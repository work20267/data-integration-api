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line: this is a data integration service, not a CRUD API with a deployment pipeline bolted on. The distinction is the whole point of the next nine slides. Everything quoted in this deck was measured against the real upstream, not estimated.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thesis of the whole project. The failure handling is not a feature bolted on at the end -- it is the thing being built. Every number on the right-hand card is real and appears later in this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these two and not a weather API: the field names already disagree, which is the single fact that justifies mapping living in a database table rather than in code. The P1/P2 trap at the bottom is real -- mapping by name instead of by meaning is silently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it left to right. The two things worth pausing on: staging keeps the raw payload, so a mapping bug found next week is fixed by reprocessing rather than re-fetching from a volunteer-funded host; and the dead letter is per row, so a batch has a partial outcome rather than a binary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proves "adding a source is configuration" was a design property and not a comment in a file. The nine rules existing before the parser did is the detail worth saying out 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point was a real bug, found by writing the test that asserts it. The MERGE assigned country directly, so ingesting the archive after the live feed would have erased it on every overlapping reading -- no exception, no dead letter, no count discrepancy. It would have looked like clean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row to dwell on is the EF-plus-Dapper split. Being able to say why EF is the wrong tool for the hot path -- and the right one for the config tables -- is the difference between knowing EF Core and knowing when not to use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costs row is the point of this slide. A decision with no stated cost has not actually been made -- it has been assumed. If an interviewer pushes on any of these, the answer is already on the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figures plainly and do not round them up. "Around three thousand rows a second, measured" is credible; "high performance" is noise. The 107 duplicates were not planted -- the live feed genuinely repeats sensor-and-timestamp pairs, and the upsert absorbed them without being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Geiger counter. It is the one thing in the deck nobody else will have, and it demonstrates the architecture working under exactly the condition it was designed for -- something nobody anticipated. Be ready to name the known gaps if asked; they are in the README and the decision records, not hidden.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2F4F6"/>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42144"/>
            <a:ext cx="10566400" cy="455166"/>
          </a:xfrm>
          <a:prstGeom prst="rect">
            <a:avLst/>
          </a:prstGeom>
          <a:noFill/>
          <a:ln/>
        </p:spPr>
        <p:txBody>
          <a:bodyPr wrap="square" lIns="0" tIns="0" rIns="0" bIns="0" rtlCol="0" anchor="t"/>
          <a:lstStyle>
            <a:lvl1pPr algn="l" indent="0" marL="0">
              <a:lnSpc>
                <a:spcPct val="115000"/>
              </a:lnSpc>
              <a:buNone/>
              <a:defRPr lang="en-US" sz="3200" dirty="0">
                <a:solidFill>
                  <a:srgbClr val="101820"/>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2002110"/>
            <a:ext cx="10566400" cy="4043090"/>
          </a:xfrm>
          <a:prstGeom prst="rect">
            <a:avLst/>
          </a:prstGeom>
          <a:noFill/>
          <a:ln/>
        </p:spPr>
        <p:txBody>
          <a:bodyPr wrap="square" lIns="0" tIns="0" rIns="0" bIns="0" rtlCol="0" anchor="t"/>
          <a:lstStyle>
            <a:lvl1pPr algn="l" indent="0" marL="0">
              <a:lnSpc>
                <a:spcPct val="140000"/>
              </a:lnSpc>
              <a:buNone/>
              <a:defRPr lang="en-US" sz="1600" dirty="0">
                <a:solidFill>
                  <a:srgbClr val="101820"/>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2F4F6"/>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42144"/>
            <a:ext cx="10566400" cy="455166"/>
          </a:xfrm>
          <a:prstGeom prst="rect">
            <a:avLst/>
          </a:prstGeom>
          <a:noFill/>
          <a:ln/>
        </p:spPr>
        <p:txBody>
          <a:bodyPr wrap="square" lIns="0" tIns="0" rIns="0" bIns="0" rtlCol="0" anchor="t"/>
          <a:lstStyle>
            <a:lvl1pPr algn="l" indent="0" marL="0">
              <a:lnSpc>
                <a:spcPct val="115000"/>
              </a:lnSpc>
              <a:buNone/>
              <a:defRPr lang="en-US" sz="3200" dirty="0">
                <a:solidFill>
                  <a:srgbClr val="101820"/>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2002110"/>
            <a:ext cx="10566400" cy="4043090"/>
          </a:xfrm>
          <a:prstGeom prst="rect">
            <a:avLst/>
          </a:prstGeom>
          <a:noFill/>
          <a:ln/>
        </p:spPr>
        <p:txBody>
          <a:bodyPr wrap="square" lIns="0" tIns="0" rIns="0" bIns="0" rtlCol="0" anchor="t"/>
          <a:lstStyle>
            <a:lvl1pPr algn="l" indent="0" marL="0">
              <a:lnSpc>
                <a:spcPct val="140000"/>
              </a:lnSpc>
              <a:buNone/>
              <a:defRPr lang="en-US" sz="1600" dirty="0">
                <a:solidFill>
                  <a:srgbClr val="101820"/>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2.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820"/>
        </a:solidFill>
      </p:bgPr>
    </p:bg>
    <p:spTree>
      <p:nvGrpSpPr>
        <p:cNvPr id="1" name=""/>
        <p:cNvGrpSpPr/>
        <p:nvPr/>
      </p:nvGrpSpPr>
      <p:grpSpPr>
        <a:xfrm>
          <a:off x="0" y="0"/>
          <a:ext cx="0" cy="0"/>
          <a:chOff x="0" y="0"/>
          <a:chExt cx="0" cy="0"/>
        </a:xfrm>
      </p:grpSpPr>
      <p:sp>
        <p:nvSpPr>
          <p:cNvPr id="2" name="Text 0"/>
          <p:cNvSpPr/>
          <p:nvPr/>
        </p:nvSpPr>
        <p:spPr>
          <a:xfrm>
            <a:off x="812800" y="1902668"/>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48C3CE"/>
                </a:solidFill>
                <a:latin typeface="JetBrains Mono" pitchFamily="49" charset="0"/>
                <a:ea typeface="JetBrains Mono" pitchFamily="49" charset="-122"/>
                <a:cs typeface="JetBrains Mono" pitchFamily="49" charset="-120"/>
              </a:rPr>
              <a:t>CLOUD-DEPLOYED DATA INTEGRATION</a:t>
            </a:r>
            <a:endParaRPr lang="en-US" sz="1200" dirty="0"/>
          </a:p>
        </p:txBody>
      </p:sp>
      <p:sp>
        <p:nvSpPr>
          <p:cNvPr id="3" name="Text 1"/>
          <p:cNvSpPr/>
          <p:nvPr>
            <p:ph type="title"/>
          </p:nvPr>
        </p:nvSpPr>
        <p:spPr>
          <a:xfrm>
            <a:off x="812800" y="2344589"/>
            <a:ext cx="10883392" cy="844252"/>
          </a:xfrm>
          <a:prstGeom prst="rect">
            <a:avLst/>
          </a:prstGeom>
          <a:noFill/>
          <a:ln/>
        </p:spPr>
        <p:txBody>
          <a:bodyPr wrap="square" lIns="0" tIns="0" rIns="0" bIns="0" rtlCol="0" anchor="t">
            <a:normAutofit/>
          </a:bodyPr>
          <a:lstStyle/>
          <a:p>
            <a:pPr algn="l" indent="0" marL="0">
              <a:lnSpc>
                <a:spcPts val="6448"/>
              </a:lnSpc>
              <a:buNone/>
            </a:pPr>
            <a:r>
              <a:rPr lang="en-US" sz="6200" b="1" i="0" dirty="0">
                <a:solidFill>
                  <a:srgbClr val="F4F7F8"/>
                </a:solidFill>
                <a:latin typeface="IBM Plex Sans" pitchFamily="34" charset="0"/>
                <a:ea typeface="IBM Plex Sans" pitchFamily="34" charset="-122"/>
                <a:cs typeface="IBM Plex Sans" pitchFamily="34" charset="-120"/>
              </a:rPr>
              <a:t>Data Integration API</a:t>
            </a:r>
            <a:endParaRPr lang="en-US" sz="6200" dirty="0"/>
          </a:p>
        </p:txBody>
      </p:sp>
      <p:sp>
        <p:nvSpPr>
          <p:cNvPr id="4" name="Text 2"/>
          <p:cNvSpPr/>
          <p:nvPr/>
        </p:nvSpPr>
        <p:spPr>
          <a:xfrm>
            <a:off x="812800" y="3392041"/>
            <a:ext cx="8371840" cy="1019721"/>
          </a:xfrm>
          <a:prstGeom prst="rect">
            <a:avLst/>
          </a:prstGeom>
          <a:noFill/>
          <a:ln/>
        </p:spPr>
        <p:txBody>
          <a:bodyPr wrap="square" lIns="0" tIns="0" rIns="0" bIns="0" rtlCol="0" anchor="t">
            <a:normAutofit/>
          </a:bodyPr>
          <a:lstStyle/>
          <a:p>
            <a:pPr algn="l" indent="0" marL="0">
              <a:lnSpc>
                <a:spcPts val="2610"/>
              </a:lnSpc>
              <a:buNone/>
            </a:pPr>
            <a:r>
              <a:rPr lang="en-US" sz="1800" dirty="0">
                <a:solidFill>
                  <a:srgbClr val="9FB0B8"/>
                </a:solidFill>
                <a:latin typeface="IBM Plex Sans" pitchFamily="34" charset="0"/>
                <a:ea typeface="IBM Plex Sans" pitchFamily="34" charset="-122"/>
                <a:cs typeface="IBM Plex Sans" pitchFamily="34" charset="-120"/>
              </a:rPr>
              <a:t>Ingests, transforms and synchronises readings from two mismatched sensor sources into one canonical model — where a partial failure never means data loss.</a:t>
            </a:r>
            <a:endParaRPr lang="en-US" sz="1800" dirty="0"/>
          </a:p>
        </p:txBody>
      </p:sp>
      <p:sp>
        <p:nvSpPr>
          <p:cNvPr id="5" name="Text 3"/>
          <p:cNvSpPr/>
          <p:nvPr/>
        </p:nvSpPr>
        <p:spPr>
          <a:xfrm>
            <a:off x="815975" y="4618137"/>
            <a:ext cx="925860" cy="333970"/>
          </a:xfrm>
          <a:prstGeom prst="roundRect">
            <a:avLst>
              <a:gd name="adj" fmla="val 48485"/>
            </a:avLst>
          </a:prstGeom>
          <a:noFill/>
          <a:ln w="6350">
            <a:solidFill>
              <a:srgbClr val="2C3A44"/>
            </a:solidFill>
            <a:prstDash val="solid"/>
          </a:ln>
        </p:spPr>
        <p:txBody>
          <a:bodyPr wrap="none" lIns="0" tIns="0" rIns="0" bIns="0" rtlCol="0" anchor="ctr">
            <a:normAutofit/>
          </a:bodyPr>
          <a:lstStyle/>
          <a:p>
            <a:pPr algn="ctr" indent="0" marL="0">
              <a:lnSpc>
                <a:spcPts val="1680"/>
              </a:lnSpc>
              <a:buNone/>
            </a:pPr>
            <a:r>
              <a:rPr lang="en-US" sz="1200" dirty="0">
                <a:solidFill>
                  <a:srgbClr val="9FB0B8"/>
                </a:solidFill>
                <a:latin typeface="JetBrains Mono" pitchFamily="49" charset="0"/>
                <a:ea typeface="JetBrains Mono" pitchFamily="49" charset="-122"/>
                <a:cs typeface="JetBrains Mono" pitchFamily="49" charset="-120"/>
              </a:rPr>
              <a:t>.NET 10</a:t>
            </a:r>
            <a:endParaRPr lang="en-US" sz="1200" dirty="0"/>
          </a:p>
        </p:txBody>
      </p:sp>
      <p:sp>
        <p:nvSpPr>
          <p:cNvPr id="6" name="Text 4"/>
          <p:cNvSpPr/>
          <p:nvPr/>
        </p:nvSpPr>
        <p:spPr>
          <a:xfrm>
            <a:off x="1837085" y="4618137"/>
            <a:ext cx="1108720" cy="333970"/>
          </a:xfrm>
          <a:prstGeom prst="roundRect">
            <a:avLst>
              <a:gd name="adj" fmla="val 48485"/>
            </a:avLst>
          </a:prstGeom>
          <a:noFill/>
          <a:ln w="6350">
            <a:solidFill>
              <a:srgbClr val="2C3A44"/>
            </a:solidFill>
            <a:prstDash val="solid"/>
          </a:ln>
        </p:spPr>
        <p:txBody>
          <a:bodyPr wrap="none" lIns="0" tIns="0" rIns="0" bIns="0" rtlCol="0" anchor="ctr">
            <a:normAutofit/>
          </a:bodyPr>
          <a:lstStyle/>
          <a:p>
            <a:pPr algn="ctr" indent="0" marL="0">
              <a:lnSpc>
                <a:spcPts val="1680"/>
              </a:lnSpc>
              <a:buNone/>
            </a:pPr>
            <a:r>
              <a:rPr lang="en-US" sz="1200" dirty="0">
                <a:solidFill>
                  <a:srgbClr val="9FB0B8"/>
                </a:solidFill>
                <a:latin typeface="JetBrains Mono" pitchFamily="49" charset="0"/>
                <a:ea typeface="JetBrains Mono" pitchFamily="49" charset="-122"/>
                <a:cs typeface="JetBrains Mono" pitchFamily="49" charset="-120"/>
              </a:rPr>
              <a:t>Azure SQL</a:t>
            </a:r>
            <a:endParaRPr lang="en-US" sz="1200" dirty="0"/>
          </a:p>
        </p:txBody>
      </p:sp>
      <p:sp>
        <p:nvSpPr>
          <p:cNvPr id="7" name="Text 5"/>
          <p:cNvSpPr/>
          <p:nvPr/>
        </p:nvSpPr>
        <p:spPr>
          <a:xfrm>
            <a:off x="3041055" y="4618137"/>
            <a:ext cx="742950" cy="333970"/>
          </a:xfrm>
          <a:prstGeom prst="roundRect">
            <a:avLst>
              <a:gd name="adj" fmla="val 48485"/>
            </a:avLst>
          </a:prstGeom>
          <a:noFill/>
          <a:ln w="6350">
            <a:solidFill>
              <a:srgbClr val="2C3A44"/>
            </a:solidFill>
            <a:prstDash val="solid"/>
          </a:ln>
        </p:spPr>
        <p:txBody>
          <a:bodyPr wrap="none" lIns="0" tIns="0" rIns="0" bIns="0" rtlCol="0" anchor="ctr">
            <a:normAutofit/>
          </a:bodyPr>
          <a:lstStyle/>
          <a:p>
            <a:pPr algn="ctr" indent="0" marL="0">
              <a:lnSpc>
                <a:spcPts val="1680"/>
              </a:lnSpc>
              <a:buNone/>
            </a:pPr>
            <a:r>
              <a:rPr lang="en-US" sz="1200" dirty="0">
                <a:solidFill>
                  <a:srgbClr val="9FB0B8"/>
                </a:solidFill>
                <a:latin typeface="JetBrains Mono" pitchFamily="49" charset="0"/>
                <a:ea typeface="JetBrains Mono" pitchFamily="49" charset="-122"/>
                <a:cs typeface="JetBrains Mono" pitchFamily="49" charset="-120"/>
              </a:rPr>
              <a:t>Bicep</a:t>
            </a:r>
            <a:endParaRPr lang="en-US" sz="1200" dirty="0"/>
          </a:p>
        </p:txBody>
      </p:sp>
      <p:sp>
        <p:nvSpPr>
          <p:cNvPr id="8" name="Text 6"/>
          <p:cNvSpPr/>
          <p:nvPr/>
        </p:nvSpPr>
        <p:spPr>
          <a:xfrm>
            <a:off x="3879255" y="4618137"/>
            <a:ext cx="1565920" cy="333970"/>
          </a:xfrm>
          <a:prstGeom prst="roundRect">
            <a:avLst>
              <a:gd name="adj" fmla="val 48485"/>
            </a:avLst>
          </a:prstGeom>
          <a:noFill/>
          <a:ln w="6350">
            <a:solidFill>
              <a:srgbClr val="2C3A44"/>
            </a:solidFill>
            <a:prstDash val="solid"/>
          </a:ln>
        </p:spPr>
        <p:txBody>
          <a:bodyPr wrap="none" lIns="0" tIns="0" rIns="0" bIns="0" rtlCol="0" anchor="ctr">
            <a:normAutofit/>
          </a:bodyPr>
          <a:lstStyle/>
          <a:p>
            <a:pPr algn="ctr" indent="0" marL="0">
              <a:lnSpc>
                <a:spcPts val="1680"/>
              </a:lnSpc>
              <a:buNone/>
            </a:pPr>
            <a:r>
              <a:rPr lang="en-US" sz="1200" dirty="0">
                <a:solidFill>
                  <a:srgbClr val="9FB0B8"/>
                </a:solidFill>
                <a:latin typeface="JetBrains Mono" pitchFamily="49" charset="0"/>
                <a:ea typeface="JetBrains Mono" pitchFamily="49" charset="-122"/>
                <a:cs typeface="JetBrains Mono" pitchFamily="49" charset="-120"/>
              </a:rPr>
              <a:t>GitHub Actions</a:t>
            </a:r>
            <a:endParaRPr lang="en-US" sz="1200" dirty="0"/>
          </a:p>
        </p:txBody>
      </p:sp>
      <p:sp>
        <p:nvSpPr>
          <p:cNvPr id="9" name="Text 7"/>
          <p:cNvSpPr/>
          <p:nvPr/>
        </p:nvSpPr>
        <p:spPr>
          <a:xfrm>
            <a:off x="5540425" y="4618137"/>
            <a:ext cx="1474490" cy="333970"/>
          </a:xfrm>
          <a:prstGeom prst="roundRect">
            <a:avLst>
              <a:gd name="adj" fmla="val 48485"/>
            </a:avLst>
          </a:prstGeom>
          <a:noFill/>
          <a:ln w="6350">
            <a:solidFill>
              <a:srgbClr val="2C3A44"/>
            </a:solidFill>
            <a:prstDash val="solid"/>
          </a:ln>
        </p:spPr>
        <p:txBody>
          <a:bodyPr wrap="none" lIns="0" tIns="0" rIns="0" bIns="0" rtlCol="0" anchor="ctr">
            <a:normAutofit/>
          </a:bodyPr>
          <a:lstStyle/>
          <a:p>
            <a:pPr algn="ctr" indent="0" marL="0">
              <a:lnSpc>
                <a:spcPts val="1680"/>
              </a:lnSpc>
              <a:buNone/>
            </a:pPr>
            <a:r>
              <a:rPr lang="en-US" sz="1200" dirty="0">
                <a:solidFill>
                  <a:srgbClr val="9FB0B8"/>
                </a:solidFill>
                <a:latin typeface="JetBrains Mono" pitchFamily="49" charset="0"/>
                <a:ea typeface="JetBrains Mono" pitchFamily="49" charset="-122"/>
                <a:cs typeface="JetBrains Mono" pitchFamily="49" charset="-120"/>
              </a:rPr>
              <a:t>OpenTelemetry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0182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48C3CE"/>
                </a:solidFill>
                <a:latin typeface="JetBrains Mono" pitchFamily="49" charset="0"/>
                <a:ea typeface="JetBrains Mono" pitchFamily="49" charset="-122"/>
                <a:cs typeface="JetBrains Mono" pitchFamily="49" charset="-120"/>
              </a:rPr>
              <a:t>MOTIVATION</a:t>
            </a:r>
            <a:endParaRPr lang="en-US" sz="1200" dirty="0"/>
          </a:p>
        </p:txBody>
      </p:sp>
      <p:sp>
        <p:nvSpPr>
          <p:cNvPr id="3" name="Text 1"/>
          <p:cNvSpPr/>
          <p:nvPr>
            <p:ph type="title"/>
          </p:nvPr>
        </p:nvSpPr>
        <p:spPr>
          <a:xfrm>
            <a:off x="812800" y="1280120"/>
            <a:ext cx="9810750" cy="935732"/>
          </a:xfrm>
          <a:prstGeom prst="rect">
            <a:avLst/>
          </a:prstGeom>
          <a:noFill/>
          <a:ln/>
        </p:spPr>
        <p:txBody>
          <a:bodyPr wrap="square" lIns="0" tIns="0" rIns="0" bIns="0" rtlCol="0" anchor="t">
            <a:normAutofit/>
          </a:bodyPr>
          <a:lstStyle/>
          <a:p>
            <a:pPr algn="l" indent="0" marL="0">
              <a:lnSpc>
                <a:spcPts val="3584"/>
              </a:lnSpc>
              <a:buNone/>
            </a:pPr>
            <a:r>
              <a:rPr lang="en-US" sz="3200" b="1" i="0" dirty="0">
                <a:solidFill>
                  <a:srgbClr val="F4F7F8"/>
                </a:solidFill>
                <a:latin typeface="IBM Plex Sans" pitchFamily="34" charset="0"/>
                <a:ea typeface="IBM Plex Sans" pitchFamily="34" charset="-122"/>
                <a:cs typeface="IBM Plex Sans" pitchFamily="34" charset="-120"/>
              </a:rPr>
              <a:t>A CRUD API with a deployment pipeline proves you followed a tutorial.</a:t>
            </a:r>
            <a:endParaRPr lang="en-US" sz="3200" dirty="0"/>
          </a:p>
        </p:txBody>
      </p:sp>
      <p:sp>
        <p:nvSpPr>
          <p:cNvPr id="4" name="Shape 2"/>
          <p:cNvSpPr/>
          <p:nvPr/>
        </p:nvSpPr>
        <p:spPr>
          <a:xfrm>
            <a:off x="815975" y="2447627"/>
            <a:ext cx="5149850" cy="2030710"/>
          </a:xfrm>
          <a:prstGeom prst="roundRect">
            <a:avLst>
              <a:gd name="adj" fmla="val 5472"/>
            </a:avLst>
          </a:prstGeom>
          <a:noFill/>
          <a:ln w="6350">
            <a:solidFill>
              <a:srgbClr val="2C3A44"/>
            </a:solidFill>
            <a:prstDash val="solid"/>
          </a:ln>
        </p:spPr>
      </p:sp>
      <p:sp>
        <p:nvSpPr>
          <p:cNvPr id="5" name="Text 3"/>
          <p:cNvSpPr/>
          <p:nvPr/>
        </p:nvSpPr>
        <p:spPr>
          <a:xfrm>
            <a:off x="1073150" y="2704802"/>
            <a:ext cx="4774565" cy="208260"/>
          </a:xfrm>
          <a:prstGeom prst="rect">
            <a:avLst/>
          </a:prstGeom>
          <a:noFill/>
          <a:ln/>
        </p:spPr>
        <p:txBody>
          <a:bodyPr wrap="square" lIns="0" tIns="0" rIns="0" bIns="0" rtlCol="0" anchor="t">
            <a:normAutofit/>
          </a:bodyPr>
          <a:lstStyle/>
          <a:p>
            <a:pPr algn="l" indent="0" marL="0">
              <a:lnSpc>
                <a:spcPts val="1440"/>
              </a:lnSpc>
              <a:buNone/>
            </a:pPr>
            <a:r>
              <a:rPr lang="en-US" sz="1200" spc="100" kern="0" dirty="0">
                <a:solidFill>
                  <a:srgbClr val="79868F"/>
                </a:solidFill>
                <a:latin typeface="JetBrains Mono" pitchFamily="49" charset="0"/>
                <a:ea typeface="JetBrains Mono" pitchFamily="49" charset="-122"/>
                <a:cs typeface="JetBrains Mono" pitchFamily="49" charset="-120"/>
              </a:rPr>
              <a:t>THE COMMON PROJECT</a:t>
            </a:r>
            <a:endParaRPr lang="en-US" sz="1200" dirty="0"/>
          </a:p>
        </p:txBody>
      </p:sp>
      <p:sp>
        <p:nvSpPr>
          <p:cNvPr id="6" name="Text 4"/>
          <p:cNvSpPr/>
          <p:nvPr/>
        </p:nvSpPr>
        <p:spPr>
          <a:xfrm>
            <a:off x="1144270" y="3001963"/>
            <a:ext cx="4695825" cy="1244600"/>
          </a:xfrm>
          <a:prstGeom prst="rect">
            <a:avLst/>
          </a:prstGeom>
          <a:noFill/>
          <a:ln/>
        </p:spPr>
        <p:txBody>
          <a:bodyPr wrap="square" lIns="0" tIns="0" rIns="0" bIns="0" rtlCol="0" anchor="t">
            <a:normAutofit/>
          </a:bodyPr>
          <a:lstStyle/>
          <a:p>
            <a:pPr algn="l" marL="182880" indent="-182880">
              <a:lnSpc>
                <a:spcPts val="2400"/>
              </a:lnSpc>
              <a:buSzPct val="100000"/>
              <a:buChar char="•"/>
            </a:pPr>
            <a:r>
              <a:rPr lang="en-US" sz="1500" dirty="0">
                <a:solidFill>
                  <a:srgbClr val="9FB0B8"/>
                </a:solidFill>
                <a:latin typeface="IBM Plex Sans" pitchFamily="34" charset="0"/>
                <a:ea typeface="IBM Plex Sans" pitchFamily="34" charset="-122"/>
                <a:cs typeface="IBM Plex Sans" pitchFamily="34" charset="-120"/>
              </a:rPr>
              <a:t>Five endpoints over invented tables</a:t>
            </a:r>
            <a:endParaRPr lang="en-US" sz="1500" dirty="0"/>
          </a:p>
          <a:p>
            <a:pPr algn="l" marL="182880" indent="-182880">
              <a:lnSpc>
                <a:spcPts val="2400"/>
              </a:lnSpc>
              <a:buSzPct val="100000"/>
              <a:buChar char="•"/>
            </a:pPr>
            <a:r>
              <a:rPr lang="en-US" sz="1500" dirty="0">
                <a:solidFill>
                  <a:srgbClr val="9FB0B8"/>
                </a:solidFill>
                <a:latin typeface="IBM Plex Sans" pitchFamily="34" charset="0"/>
                <a:ea typeface="IBM Plex Sans" pitchFamily="34" charset="-122"/>
                <a:cs typeface="IBM Plex Sans" pitchFamily="34" charset="-120"/>
              </a:rPr>
              <a:t>Deploys to a cloud</a:t>
            </a:r>
            <a:endParaRPr lang="en-US" sz="1500" dirty="0"/>
          </a:p>
          <a:p>
            <a:pPr algn="l" marL="182880" indent="-182880">
              <a:lnSpc>
                <a:spcPts val="2400"/>
              </a:lnSpc>
              <a:buSzPct val="100000"/>
              <a:buChar char="•"/>
            </a:pPr>
            <a:r>
              <a:rPr lang="en-US" sz="1500" dirty="0">
                <a:solidFill>
                  <a:srgbClr val="9FB0B8"/>
                </a:solidFill>
                <a:latin typeface="IBM Plex Sans" pitchFamily="34" charset="0"/>
                <a:ea typeface="IBM Plex Sans" pitchFamily="34" charset="-122"/>
                <a:cs typeface="IBM Plex Sans" pitchFamily="34" charset="-120"/>
              </a:rPr>
              <a:t>Only the happy path is exercised</a:t>
            </a:r>
            <a:endParaRPr lang="en-US" sz="1500" dirty="0"/>
          </a:p>
          <a:p>
            <a:pPr algn="l" marL="182880" indent="-182880">
              <a:lnSpc>
                <a:spcPts val="2400"/>
              </a:lnSpc>
              <a:buSzPct val="100000"/>
              <a:buChar char="•"/>
            </a:pPr>
            <a:r>
              <a:rPr lang="en-US" sz="1500" dirty="0">
                <a:solidFill>
                  <a:srgbClr val="9FB0B8"/>
                </a:solidFill>
                <a:latin typeface="IBM Plex Sans" pitchFamily="34" charset="0"/>
                <a:ea typeface="IBM Plex Sans" pitchFamily="34" charset="-122"/>
                <a:cs typeface="IBM Plex Sans" pitchFamily="34" charset="-120"/>
              </a:rPr>
              <a:t>Nothing to discuss for 45 minutes</a:t>
            </a:r>
            <a:endParaRPr lang="en-US" sz="1500" dirty="0"/>
          </a:p>
        </p:txBody>
      </p:sp>
      <p:sp>
        <p:nvSpPr>
          <p:cNvPr id="7" name="Shape 5"/>
          <p:cNvSpPr/>
          <p:nvPr/>
        </p:nvSpPr>
        <p:spPr>
          <a:xfrm>
            <a:off x="6226175" y="2447627"/>
            <a:ext cx="5149850" cy="2030710"/>
          </a:xfrm>
          <a:prstGeom prst="roundRect">
            <a:avLst>
              <a:gd name="adj" fmla="val 5472"/>
            </a:avLst>
          </a:prstGeom>
          <a:solidFill>
            <a:srgbClr val="16222B"/>
          </a:solidFill>
          <a:ln w="6350">
            <a:solidFill>
              <a:srgbClr val="48C3CE"/>
            </a:solidFill>
            <a:prstDash val="solid"/>
          </a:ln>
        </p:spPr>
      </p:sp>
      <p:sp>
        <p:nvSpPr>
          <p:cNvPr id="8" name="Text 6"/>
          <p:cNvSpPr/>
          <p:nvPr/>
        </p:nvSpPr>
        <p:spPr>
          <a:xfrm>
            <a:off x="6483350" y="2704802"/>
            <a:ext cx="4774565" cy="208260"/>
          </a:xfrm>
          <a:prstGeom prst="rect">
            <a:avLst/>
          </a:prstGeom>
          <a:noFill/>
          <a:ln/>
        </p:spPr>
        <p:txBody>
          <a:bodyPr wrap="square" lIns="0" tIns="0" rIns="0" bIns="0" rtlCol="0" anchor="t">
            <a:normAutofit/>
          </a:bodyPr>
          <a:lstStyle/>
          <a:p>
            <a:pPr algn="l" indent="0" marL="0">
              <a:lnSpc>
                <a:spcPts val="1440"/>
              </a:lnSpc>
              <a:buNone/>
            </a:pPr>
            <a:r>
              <a:rPr lang="en-US" sz="1200" spc="100" kern="0" dirty="0">
                <a:solidFill>
                  <a:srgbClr val="48C3CE"/>
                </a:solidFill>
                <a:latin typeface="JetBrains Mono" pitchFamily="49" charset="0"/>
                <a:ea typeface="JetBrains Mono" pitchFamily="49" charset="-122"/>
                <a:cs typeface="JetBrains Mono" pitchFamily="49" charset="-120"/>
              </a:rPr>
              <a:t>WHAT INTEGRATION ACTUALLY IS</a:t>
            </a:r>
            <a:endParaRPr lang="en-US" sz="1200" dirty="0"/>
          </a:p>
        </p:txBody>
      </p:sp>
      <p:sp>
        <p:nvSpPr>
          <p:cNvPr id="9" name="Text 7"/>
          <p:cNvSpPr/>
          <p:nvPr/>
        </p:nvSpPr>
        <p:spPr>
          <a:xfrm>
            <a:off x="6554470" y="3001963"/>
            <a:ext cx="4695825" cy="1244600"/>
          </a:xfrm>
          <a:prstGeom prst="rect">
            <a:avLst/>
          </a:prstGeom>
          <a:noFill/>
          <a:ln/>
        </p:spPr>
        <p:txBody>
          <a:bodyPr wrap="square" lIns="0" tIns="0" rIns="0" bIns="0" rtlCol="0" anchor="t">
            <a:normAutofit/>
          </a:bodyPr>
          <a:lstStyle/>
          <a:p>
            <a:pPr algn="l" marL="182880" indent="-182880">
              <a:lnSpc>
                <a:spcPts val="2400"/>
              </a:lnSpc>
              <a:buSzPct val="100000"/>
              <a:buChar char="•"/>
            </a:pPr>
            <a:r>
              <a:rPr lang="en-US" sz="1500" dirty="0">
                <a:solidFill>
                  <a:srgbClr val="D7E0E5"/>
                </a:solidFill>
                <a:latin typeface="IBM Plex Sans" pitchFamily="34" charset="0"/>
                <a:ea typeface="IBM Plex Sans" pitchFamily="34" charset="-122"/>
                <a:cs typeface="IBM Plex Sans" pitchFamily="34" charset="-120"/>
              </a:rPr>
              <a:t>63 of 17,770 rows are unmappable</a:t>
            </a:r>
            <a:endParaRPr lang="en-US" sz="1500" dirty="0"/>
          </a:p>
          <a:p>
            <a:pPr algn="l" marL="182880" indent="-182880">
              <a:lnSpc>
                <a:spcPts val="2400"/>
              </a:lnSpc>
              <a:buSzPct val="100000"/>
              <a:buChar char="•"/>
            </a:pPr>
            <a:r>
              <a:rPr lang="en-US" sz="1500" dirty="0">
                <a:solidFill>
                  <a:srgbClr val="D7E0E5"/>
                </a:solidFill>
                <a:latin typeface="IBM Plex Sans" pitchFamily="34" charset="0"/>
                <a:ea typeface="IBM Plex Sans" pitchFamily="34" charset="-122"/>
                <a:cs typeface="IBM Plex Sans" pitchFamily="34" charset="-120"/>
              </a:rPr>
              <a:t>The upstream dies mid-batch</a:t>
            </a:r>
            <a:endParaRPr lang="en-US" sz="1500" dirty="0"/>
          </a:p>
          <a:p>
            <a:pPr algn="l" marL="182880" indent="-182880">
              <a:lnSpc>
                <a:spcPts val="2400"/>
              </a:lnSpc>
              <a:buSzPct val="100000"/>
              <a:buChar char="•"/>
            </a:pPr>
            <a:r>
              <a:rPr lang="en-US" sz="1500" dirty="0">
                <a:solidFill>
                  <a:srgbClr val="D7E0E5"/>
                </a:solidFill>
                <a:latin typeface="IBM Plex Sans" pitchFamily="34" charset="0"/>
                <a:ea typeface="IBM Plex Sans" pitchFamily="34" charset="-122"/>
                <a:cs typeface="IBM Plex Sans" pitchFamily="34" charset="-120"/>
              </a:rPr>
              <a:t>The same reading arrives from two sources</a:t>
            </a:r>
            <a:endParaRPr lang="en-US" sz="1500" dirty="0"/>
          </a:p>
          <a:p>
            <a:pPr algn="l" marL="182880" indent="-182880">
              <a:lnSpc>
                <a:spcPts val="2400"/>
              </a:lnSpc>
              <a:buSzPct val="100000"/>
              <a:buChar char="•"/>
            </a:pPr>
            <a:r>
              <a:rPr lang="en-US" sz="1500" dirty="0">
                <a:solidFill>
                  <a:srgbClr val="D7E0E5"/>
                </a:solidFill>
                <a:latin typeface="IBM Plex Sans" pitchFamily="34" charset="0"/>
                <a:ea typeface="IBM Plex Sans" pitchFamily="34" charset="-122"/>
                <a:cs typeface="IBM Plex Sans" pitchFamily="34" charset="-120"/>
              </a:rPr>
              <a:t>Fixing it must not mean re-fetching</a:t>
            </a:r>
            <a:endParaRPr lang="en-US" sz="1500" dirty="0"/>
          </a:p>
        </p:txBody>
      </p:sp>
      <p:sp>
        <p:nvSpPr>
          <p:cNvPr id="10" name="Text 8"/>
          <p:cNvSpPr/>
          <p:nvPr/>
        </p:nvSpPr>
        <p:spPr>
          <a:xfrm>
            <a:off x="812800" y="4735513"/>
            <a:ext cx="10203180" cy="5969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9FB0B8"/>
                </a:solidFill>
                <a:latin typeface="IBM Plex Sans" pitchFamily="34" charset="0"/>
                <a:ea typeface="IBM Plex Sans" pitchFamily="34" charset="-122"/>
                <a:cs typeface="IBM Plex Sans" pitchFamily="34" charset="-120"/>
              </a:rPr>
              <a:t>Nobody is hired for being able to POST a record. They are hired for what the system does when row 4,000 is malformed and the downstream has just gone away.</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4F6"/>
        </a:solidFill>
      </p:bgPr>
    </p:bg>
    <p:spTree>
      <p:nvGrpSpPr>
        <p:cNvPr id="1" name=""/>
        <p:cNvGrpSpPr/>
        <p:nvPr/>
      </p:nvGrpSpPr>
      <p:grpSpPr>
        <a:xfrm>
          <a:off x="0" y="0"/>
          <a:ext cx="0" cy="0"/>
          <a:chOff x="0" y="0"/>
          <a:chExt cx="0" cy="0"/>
        </a:xfrm>
      </p:grpSpPr>
      <p:sp>
        <p:nvSpPr>
          <p:cNvPr id="2" name="Text 0"/>
          <p:cNvSpPr/>
          <p:nvPr/>
        </p:nvSpPr>
        <p:spPr>
          <a:xfrm>
            <a:off x="812800" y="812800"/>
            <a:ext cx="10883392" cy="226268"/>
          </a:xfrm>
          <a:prstGeom prst="rect">
            <a:avLst/>
          </a:prstGeom>
          <a:noFill/>
          <a:ln/>
        </p:spPr>
        <p:txBody>
          <a:bodyPr wrap="square" lIns="0" tIns="0" rIns="0" bIns="0" rtlCol="0" anchor="t">
            <a:normAutofit/>
          </a:bodyPr>
          <a:lstStyle/>
          <a:p>
            <a:pPr algn="l" indent="0" marL="0">
              <a:lnSpc>
                <a:spcPts val="1622"/>
              </a:lnSpc>
              <a:buNone/>
            </a:pPr>
            <a:r>
              <a:rPr lang="en-US" sz="1159" spc="150" kern="0" dirty="0">
                <a:solidFill>
                  <a:srgbClr val="0A6670"/>
                </a:solidFill>
                <a:latin typeface="JetBrains Mono" pitchFamily="49" charset="0"/>
                <a:ea typeface="JetBrains Mono" pitchFamily="49" charset="-122"/>
                <a:cs typeface="JetBrains Mono" pitchFamily="49" charset="-120"/>
              </a:rPr>
              <a:t>THE DATA</a:t>
            </a:r>
            <a:endParaRPr lang="en-US" sz="1159" dirty="0"/>
          </a:p>
        </p:txBody>
      </p:sp>
      <p:sp>
        <p:nvSpPr>
          <p:cNvPr id="3" name="Text 1"/>
          <p:cNvSpPr/>
          <p:nvPr>
            <p:ph type="title"/>
          </p:nvPr>
        </p:nvSpPr>
        <p:spPr>
          <a:xfrm>
            <a:off x="812800" y="1242268"/>
            <a:ext cx="10883392" cy="453975"/>
          </a:xfrm>
          <a:prstGeom prst="rect">
            <a:avLst/>
          </a:prstGeom>
          <a:noFill/>
          <a:ln/>
        </p:spPr>
        <p:txBody>
          <a:bodyPr wrap="square" lIns="0" tIns="0" rIns="0" bIns="0" rtlCol="0" anchor="t">
            <a:normAutofit/>
          </a:bodyPr>
          <a:lstStyle/>
          <a:p>
            <a:pPr algn="l" indent="0" marL="0">
              <a:lnSpc>
                <a:spcPts val="3371"/>
              </a:lnSpc>
              <a:buNone/>
            </a:pPr>
            <a:r>
              <a:rPr lang="en-US" sz="3010" b="1" i="0" dirty="0">
                <a:solidFill>
                  <a:srgbClr val="101820"/>
                </a:solidFill>
                <a:latin typeface="IBM Plex Sans" pitchFamily="34" charset="0"/>
                <a:ea typeface="IBM Plex Sans" pitchFamily="34" charset="-122"/>
                <a:cs typeface="IBM Plex Sans" pitchFamily="34" charset="-120"/>
              </a:rPr>
              <a:t>Two real sources that agree on almost nothing</a:t>
            </a:r>
            <a:endParaRPr lang="en-US" sz="3010" dirty="0"/>
          </a:p>
        </p:txBody>
      </p:sp>
      <p:sp>
        <p:nvSpPr>
          <p:cNvPr id="4" name="Text 2"/>
          <p:cNvSpPr/>
          <p:nvPr/>
        </p:nvSpPr>
        <p:spPr>
          <a:xfrm>
            <a:off x="812800" y="1899444"/>
            <a:ext cx="10203180" cy="563563"/>
          </a:xfrm>
          <a:prstGeom prst="rect">
            <a:avLst/>
          </a:prstGeom>
          <a:noFill/>
          <a:ln/>
        </p:spPr>
        <p:txBody>
          <a:bodyPr wrap="square" lIns="0" tIns="0" rIns="0" bIns="0" rtlCol="0" anchor="t">
            <a:normAutofit/>
          </a:bodyPr>
          <a:lstStyle/>
          <a:p>
            <a:pPr algn="l" indent="0" marL="0">
              <a:lnSpc>
                <a:spcPts val="2130"/>
              </a:lnSpc>
              <a:buNone/>
            </a:pPr>
            <a:r>
              <a:rPr lang="en-US" sz="1420" dirty="0">
                <a:solidFill>
                  <a:srgbClr val="4A5660"/>
                </a:solidFill>
                <a:latin typeface="IBM Plex Sans" pitchFamily="34" charset="0"/>
                <a:ea typeface="IBM Plex Sans" pitchFamily="34" charset="-122"/>
                <a:cs typeface="IBM Plex Sans" pitchFamily="34" charset="-120"/>
              </a:rPr>
              <a:t>Sensor.Community — a volunteer network of DIY air-quality sensors. Both feeds are free, unauthenticated, and genuinely messy.</a:t>
            </a:r>
            <a:endParaRPr lang="en-US" sz="1420" dirty="0"/>
          </a:p>
        </p:txBody>
      </p:sp>
      <p:sp>
        <p:nvSpPr>
          <p:cNvPr id="5" name="Shape 3"/>
          <p:cNvSpPr/>
          <p:nvPr/>
        </p:nvSpPr>
        <p:spPr>
          <a:xfrm>
            <a:off x="812800" y="2672556"/>
            <a:ext cx="10566400" cy="0"/>
          </a:xfrm>
          <a:prstGeom prst="line">
            <a:avLst/>
          </a:prstGeom>
          <a:noFill/>
          <a:ln w="12700">
            <a:solidFill>
              <a:srgbClr val="141413">
                <a:alpha val="22000"/>
              </a:srgbClr>
            </a:solidFill>
            <a:prstDash val="solid"/>
          </a:ln>
        </p:spPr>
      </p:sp>
      <p:sp>
        <p:nvSpPr>
          <p:cNvPr id="6" name="Shape 4"/>
          <p:cNvSpPr/>
          <p:nvPr/>
        </p:nvSpPr>
        <p:spPr>
          <a:xfrm>
            <a:off x="819150" y="2666206"/>
            <a:ext cx="0" cy="2033290"/>
          </a:xfrm>
          <a:prstGeom prst="line">
            <a:avLst/>
          </a:prstGeom>
          <a:noFill/>
          <a:ln w="12700">
            <a:solidFill>
              <a:srgbClr val="141413">
                <a:alpha val="22000"/>
              </a:srgbClr>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952500" y="2780506"/>
          <a:ext cx="10299700" cy="1818928"/>
        </p:xfrm>
        <a:graphic>
          <a:graphicData uri="http://schemas.openxmlformats.org/drawingml/2006/table">
            <a:tbl>
              <a:tblPr/>
              <a:tblGrid>
                <a:gridCol w="2265934"/>
                <a:gridCol w="4016883"/>
                <a:gridCol w="4016883"/>
              </a:tblGrid>
              <a:tr h="363786">
                <a:tc>
                  <a:txBody>
                    <a:bodyPr/>
                    <a:lstStyle/>
                    <a:p>
                      <a:pPr indent="0" marL="0">
                        <a:lnSpc>
                          <a:spcPts val="1844"/>
                        </a:lnSpc>
                        <a:buNone/>
                      </a:pPr>
                      <a:r>
                        <a:rPr lang="en-US" sz="1317" b="1" dirty="0">
                          <a:solidFill>
                            <a:srgbClr val="101820"/>
                          </a:solidFill>
                          <a:latin typeface="IBM Plex Sans" pitchFamily="34" charset="0"/>
                          <a:ea typeface="IBM Plex Sans" pitchFamily="34" charset="-122"/>
                          <a:cs typeface="IBM Plex Sans" pitchFamily="34" charset="-120"/>
                        </a:rPr>
                        <a:t> </a:t>
                      </a:r>
                      <a:endParaRPr lang="en-US" sz="1317" dirty="0">
                        <a:latin typeface="IBM Plex Sans" charset="0"/>
                        <a:ea typeface="IBM Plex Sans" charset="0"/>
                        <a:cs typeface="IBM Plex Sans" charset="0"/>
                      </a:endParaRPr>
                    </a:p>
                  </a:txBody>
                  <a:tcPr marL="58535" marR="58535" marT="58535" marB="58535" anchor="t">
                    <a:lnL w="0" cap="flat" cmpd="sng" algn="ctr">
                      <a:noFill/>
                    </a:lnL>
                    <a:lnR w="12700" cap="flat" cmpd="sng" algn="ctr">
                      <a:solidFill>
                        <a:srgbClr val="B6BABD"/>
                      </a:solidFill>
                      <a:prstDash val="solid"/>
                      <a:round/>
                      <a:headEnd type="none" w="med" len="med"/>
                      <a:tailEnd type="none" w="med" len="med"/>
                    </a:lnR>
                    <a:lnT w="0" cap="flat" cmpd="sng" algn="ctr">
                      <a:noFill/>
                    </a:lnT>
                    <a:lnB w="12700" cap="flat" cmpd="sng" algn="ctr">
                      <a:solidFill>
                        <a:srgbClr val="B6BABD"/>
                      </a:solidFill>
                      <a:prstDash val="solid"/>
                      <a:round/>
                      <a:headEnd type="none" w="med" len="med"/>
                      <a:tailEnd type="none" w="med" len="med"/>
                    </a:lnB>
                    <a:solidFill>
                      <a:srgbClr val="E4E9ED"/>
                    </a:solidFill>
                  </a:tcPr>
                </a:tc>
                <a:tc>
                  <a:txBody>
                    <a:bodyPr/>
                    <a:lstStyle/>
                    <a:p>
                      <a:pPr indent="0" marL="0">
                        <a:lnSpc>
                          <a:spcPts val="1844"/>
                        </a:lnSpc>
                        <a:buNone/>
                      </a:pPr>
                      <a:r>
                        <a:rPr lang="en-US" sz="1317" b="1" dirty="0">
                          <a:solidFill>
                            <a:srgbClr val="101820"/>
                          </a:solidFill>
                          <a:latin typeface="IBM Plex Sans" pitchFamily="34" charset="0"/>
                          <a:ea typeface="IBM Plex Sans" pitchFamily="34" charset="-122"/>
                          <a:cs typeface="IBM Plex Sans" pitchFamily="34" charset="-120"/>
                        </a:rPr>
                        <a:t>json-live</a:t>
                      </a:r>
                      <a:endParaRPr lang="en-US" sz="1317" dirty="0">
                        <a:latin typeface="IBM Plex Sans" charset="0"/>
                        <a:ea typeface="IBM Plex Sans" charset="0"/>
                        <a:cs typeface="IBM Plex Sans" charset="0"/>
                      </a:endParaRPr>
                    </a:p>
                  </a:txBody>
                  <a:tcPr marL="58535" marR="58535" marT="58535" marB="58535" anchor="t">
                    <a:lnL w="12700" cap="flat" cmpd="sng" algn="ctr">
                      <a:solidFill>
                        <a:srgbClr val="B6BABD"/>
                      </a:solidFill>
                      <a:prstDash val="solid"/>
                      <a:round/>
                      <a:headEnd type="none" w="med" len="med"/>
                      <a:tailEnd type="none" w="med" len="med"/>
                    </a:lnL>
                    <a:lnR w="12700" cap="flat" cmpd="sng" algn="ctr">
                      <a:solidFill>
                        <a:srgbClr val="B6BABD"/>
                      </a:solidFill>
                      <a:prstDash val="solid"/>
                      <a:round/>
                      <a:headEnd type="none" w="med" len="med"/>
                      <a:tailEnd type="none" w="med" len="med"/>
                    </a:lnR>
                    <a:lnT w="0" cap="flat" cmpd="sng" algn="ctr">
                      <a:noFill/>
                    </a:lnT>
                    <a:lnB w="12700" cap="flat" cmpd="sng" algn="ctr">
                      <a:solidFill>
                        <a:srgbClr val="B6BABD"/>
                      </a:solidFill>
                      <a:prstDash val="solid"/>
                      <a:round/>
                      <a:headEnd type="none" w="med" len="med"/>
                      <a:tailEnd type="none" w="med" len="med"/>
                    </a:lnB>
                    <a:solidFill>
                      <a:srgbClr val="E4E9ED"/>
                    </a:solidFill>
                  </a:tcPr>
                </a:tc>
                <a:tc>
                  <a:txBody>
                    <a:bodyPr/>
                    <a:lstStyle/>
                    <a:p>
                      <a:pPr indent="0" marL="0">
                        <a:lnSpc>
                          <a:spcPts val="1844"/>
                        </a:lnSpc>
                        <a:buNone/>
                      </a:pPr>
                      <a:r>
                        <a:rPr lang="en-US" sz="1317" b="1" dirty="0">
                          <a:solidFill>
                            <a:srgbClr val="101820"/>
                          </a:solidFill>
                          <a:latin typeface="IBM Plex Sans" pitchFamily="34" charset="0"/>
                          <a:ea typeface="IBM Plex Sans" pitchFamily="34" charset="-122"/>
                          <a:cs typeface="IBM Plex Sans" pitchFamily="34" charset="-120"/>
                        </a:rPr>
                        <a:t>csv-archive</a:t>
                      </a:r>
                      <a:endParaRPr lang="en-US" sz="1317" dirty="0">
                        <a:latin typeface="IBM Plex Sans" charset="0"/>
                        <a:ea typeface="IBM Plex Sans" charset="0"/>
                        <a:cs typeface="IBM Plex Sans" charset="0"/>
                      </a:endParaRPr>
                    </a:p>
                  </a:txBody>
                  <a:tcPr marL="58535" marR="58535" marT="58535" marB="58535" anchor="t">
                    <a:lnL w="12700" cap="flat" cmpd="sng" algn="ctr">
                      <a:solidFill>
                        <a:srgbClr val="B6BABD"/>
                      </a:solidFill>
                      <a:prstDash val="solid"/>
                      <a:round/>
                      <a:headEnd type="none" w="med" len="med"/>
                      <a:tailEnd type="none" w="med" len="med"/>
                    </a:lnL>
                    <a:lnR w="12700" cap="flat" cmpd="sng" algn="ctr">
                      <a:solidFill>
                        <a:srgbClr val="B6BABD"/>
                      </a:solidFill>
                      <a:prstDash val="solid"/>
                      <a:round/>
                      <a:headEnd type="none" w="med" len="med"/>
                      <a:tailEnd type="none" w="med" len="med"/>
                    </a:lnR>
                    <a:lnT w="0" cap="flat" cmpd="sng" algn="ctr">
                      <a:noFill/>
                    </a:lnT>
                    <a:lnB w="12700" cap="flat" cmpd="sng" algn="ctr">
                      <a:solidFill>
                        <a:srgbClr val="B6BABD"/>
                      </a:solidFill>
                      <a:prstDash val="solid"/>
                      <a:round/>
                      <a:headEnd type="none" w="med" len="med"/>
                      <a:tailEnd type="none" w="med" len="med"/>
                    </a:lnB>
                    <a:solidFill>
                      <a:srgbClr val="E4E9ED"/>
                    </a:solidFill>
                  </a:tcPr>
                </a:tc>
              </a:tr>
              <a:tr h="363786">
                <a:tc>
                  <a:txBody>
                    <a:bodyPr/>
                    <a:lstStyle/>
                    <a:p>
                      <a:pPr indent="0" marL="0">
                        <a:lnSpc>
                          <a:spcPts val="1844"/>
                        </a:lnSpc>
                        <a:buNone/>
                      </a:pPr>
                      <a:r>
                        <a:rPr lang="en-US" sz="1317" dirty="0">
                          <a:solidFill>
                            <a:srgbClr val="4A5660"/>
                          </a:solidFill>
                          <a:latin typeface="IBM Plex Sans" pitchFamily="34" charset="0"/>
                          <a:ea typeface="IBM Plex Sans" pitchFamily="34" charset="-122"/>
                          <a:cs typeface="IBM Plex Sans" pitchFamily="34" charset="-120"/>
                        </a:rPr>
                        <a:t>Shape</a:t>
                      </a:r>
                      <a:endParaRPr lang="en-US" sz="1317" dirty="0">
                        <a:latin typeface="IBM Plex Sans" charset="0"/>
                        <a:ea typeface="IBM Plex Sans" charset="0"/>
                        <a:cs typeface="IBM Plex Sans" charset="0"/>
                      </a:endParaRPr>
                    </a:p>
                  </a:txBody>
                  <a:tcPr marL="58535" marR="58535" marT="58535" marB="58535" anchor="t">
                    <a:lnL w="0" cap="flat" cmpd="sng" algn="ctr">
                      <a:noFill/>
                    </a:lnL>
                    <a:lnR w="12700" cap="flat" cmpd="sng" algn="ctr">
                      <a:solidFill>
                        <a:srgbClr val="C1C3C4"/>
                      </a:solidFill>
                      <a:prstDash val="solid"/>
                      <a:round/>
                      <a:headEnd type="none" w="med" len="med"/>
                      <a:tailEnd type="none" w="med" len="med"/>
                    </a:lnR>
                    <a:lnT w="12700" cap="flat" cmpd="sng" algn="ctr">
                      <a:solidFill>
                        <a:srgbClr val="B6BABD"/>
                      </a:solidFill>
                      <a:prstDash val="solid"/>
                      <a:round/>
                      <a:headEnd type="none" w="med" len="med"/>
                      <a:tailEnd type="none" w="med" len="med"/>
                    </a:lnT>
                    <a:lnB w="12700" cap="flat" cmpd="sng" algn="ctr">
                      <a:solidFill>
                        <a:srgbClr val="C1C3C4"/>
                      </a:solidFill>
                      <a:prstDash val="solid"/>
                      <a:round/>
                      <a:headEnd type="none" w="med" len="med"/>
                      <a:tailEnd type="none" w="med" len="med"/>
                    </a:lnB>
                  </a:tcPr>
                </a:tc>
                <a:tc>
                  <a:txBody>
                    <a:bodyPr/>
                    <a:lstStyle/>
                    <a:p>
                      <a:pPr indent="0" marL="0">
                        <a:lnSpc>
                          <a:spcPts val="1844"/>
                        </a:lnSpc>
                        <a:buNone/>
                      </a:pPr>
                      <a:r>
                        <a:rPr lang="en-US" sz="1317" dirty="0">
                          <a:solidFill>
                            <a:srgbClr val="101820"/>
                          </a:solidFill>
                          <a:latin typeface="IBM Plex Sans" pitchFamily="34" charset="0"/>
                          <a:ea typeface="IBM Plex Sans" pitchFamily="34" charset="-122"/>
                          <a:cs typeface="IBM Plex Sans" pitchFamily="34" charset="-120"/>
                        </a:rPr>
                        <a:t>Nested JSON, key-value array</a:t>
                      </a:r>
                      <a:endParaRPr lang="en-US" sz="1317" dirty="0">
                        <a:latin typeface="IBM Plex Sans" charset="0"/>
                        <a:ea typeface="IBM Plex Sans" charset="0"/>
                        <a:cs typeface="IBM Plex Sans" charset="0"/>
                      </a:endParaRPr>
                    </a:p>
                  </a:txBody>
                  <a:tcPr marL="58535" marR="58535" marT="58535" marB="58535" anchor="t">
                    <a:lnL w="12700" cap="flat" cmpd="sng" algn="ctr">
                      <a:solidFill>
                        <a:srgbClr val="C1C3C4"/>
                      </a:solidFill>
                      <a:prstDash val="solid"/>
                      <a:round/>
                      <a:headEnd type="none" w="med" len="med"/>
                      <a:tailEnd type="none" w="med" len="med"/>
                    </a:lnL>
                    <a:lnR w="12700" cap="flat" cmpd="sng" algn="ctr">
                      <a:solidFill>
                        <a:srgbClr val="C1C3C4"/>
                      </a:solidFill>
                      <a:prstDash val="solid"/>
                      <a:round/>
                      <a:headEnd type="none" w="med" len="med"/>
                      <a:tailEnd type="none" w="med" len="med"/>
                    </a:lnR>
                    <a:lnT w="12700" cap="flat" cmpd="sng" algn="ctr">
                      <a:solidFill>
                        <a:srgbClr val="B6BABD"/>
                      </a:solidFill>
                      <a:prstDash val="solid"/>
                      <a:round/>
                      <a:headEnd type="none" w="med" len="med"/>
                      <a:tailEnd type="none" w="med" len="med"/>
                    </a:lnT>
                    <a:lnB w="12700" cap="flat" cmpd="sng" algn="ctr">
                      <a:solidFill>
                        <a:srgbClr val="C1C3C4"/>
                      </a:solidFill>
                      <a:prstDash val="solid"/>
                      <a:round/>
                      <a:headEnd type="none" w="med" len="med"/>
                      <a:tailEnd type="none" w="med" len="med"/>
                    </a:lnB>
                  </a:tcPr>
                </a:tc>
                <a:tc>
                  <a:txBody>
                    <a:bodyPr/>
                    <a:lstStyle/>
                    <a:p>
                      <a:pPr indent="0" marL="0">
                        <a:lnSpc>
                          <a:spcPts val="1844"/>
                        </a:lnSpc>
                        <a:buNone/>
                      </a:pPr>
                      <a:r>
                        <a:rPr lang="en-US" sz="1317" dirty="0">
                          <a:solidFill>
                            <a:srgbClr val="101820"/>
                          </a:solidFill>
                          <a:latin typeface="IBM Plex Sans" pitchFamily="34" charset="0"/>
                          <a:ea typeface="IBM Plex Sans" pitchFamily="34" charset="-122"/>
                          <a:cs typeface="IBM Plex Sans" pitchFamily="34" charset="-120"/>
                        </a:rPr>
                        <a:t>Flat CSV, columns differ per device</a:t>
                      </a:r>
                      <a:endParaRPr lang="en-US" sz="1317" dirty="0">
                        <a:latin typeface="IBM Plex Sans" charset="0"/>
                        <a:ea typeface="IBM Plex Sans" charset="0"/>
                        <a:cs typeface="IBM Plex Sans" charset="0"/>
                      </a:endParaRPr>
                    </a:p>
                  </a:txBody>
                  <a:tcPr marL="58535" marR="58535" marT="58535" marB="58535" anchor="t">
                    <a:lnL w="12700" cap="flat" cmpd="sng" algn="ctr">
                      <a:solidFill>
                        <a:srgbClr val="C1C3C4"/>
                      </a:solidFill>
                      <a:prstDash val="solid"/>
                      <a:round/>
                      <a:headEnd type="none" w="med" len="med"/>
                      <a:tailEnd type="none" w="med" len="med"/>
                    </a:lnL>
                    <a:lnR w="12700" cap="flat" cmpd="sng" algn="ctr">
                      <a:solidFill>
                        <a:srgbClr val="C1C3C4"/>
                      </a:solidFill>
                      <a:prstDash val="solid"/>
                      <a:round/>
                      <a:headEnd type="none" w="med" len="med"/>
                      <a:tailEnd type="none" w="med" len="med"/>
                    </a:lnR>
                    <a:lnT w="12700" cap="flat" cmpd="sng" algn="ctr">
                      <a:solidFill>
                        <a:srgbClr val="B6BABD"/>
                      </a:solidFill>
                      <a:prstDash val="solid"/>
                      <a:round/>
                      <a:headEnd type="none" w="med" len="med"/>
                      <a:tailEnd type="none" w="med" len="med"/>
                    </a:lnT>
                    <a:lnB w="12700" cap="flat" cmpd="sng" algn="ctr">
                      <a:solidFill>
                        <a:srgbClr val="C1C3C4"/>
                      </a:solidFill>
                      <a:prstDash val="solid"/>
                      <a:round/>
                      <a:headEnd type="none" w="med" len="med"/>
                      <a:tailEnd type="none" w="med" len="med"/>
                    </a:lnB>
                  </a:tcPr>
                </a:tc>
              </a:tr>
              <a:tr h="363786">
                <a:tc>
                  <a:txBody>
                    <a:bodyPr/>
                    <a:lstStyle/>
                    <a:p>
                      <a:pPr indent="0" marL="0">
                        <a:lnSpc>
                          <a:spcPts val="1844"/>
                        </a:lnSpc>
                        <a:buNone/>
                      </a:pPr>
                      <a:r>
                        <a:rPr lang="en-US" sz="1317" dirty="0">
                          <a:solidFill>
                            <a:srgbClr val="4A5660"/>
                          </a:solidFill>
                          <a:latin typeface="IBM Plex Sans" pitchFamily="34" charset="0"/>
                          <a:ea typeface="IBM Plex Sans" pitchFamily="34" charset="-122"/>
                          <a:cs typeface="IBM Plex Sans" pitchFamily="34" charset="-120"/>
                        </a:rPr>
                        <a:t>Timestamp</a:t>
                      </a:r>
                      <a:endParaRPr lang="en-US" sz="1317" dirty="0">
                        <a:latin typeface="IBM Plex Sans" charset="0"/>
                        <a:ea typeface="IBM Plex Sans" charset="0"/>
                        <a:cs typeface="IBM Plex Sans" charset="0"/>
                      </a:endParaRPr>
                    </a:p>
                  </a:txBody>
                  <a:tcPr marL="58535" marR="58535" marT="58535" marB="58535" anchor="t">
                    <a:lnL w="0" cap="flat" cmpd="sng" algn="ctr">
                      <a:noFill/>
                    </a:lnL>
                    <a:lnR w="12700" cap="flat" cmpd="sng" algn="ctr">
                      <a:solidFill>
                        <a:srgbClr val="BABDBF"/>
                      </a:solidFill>
                      <a:prstDash val="solid"/>
                      <a:round/>
                      <a:headEnd type="none" w="med" len="med"/>
                      <a:tailEnd type="none" w="med" len="med"/>
                    </a:lnR>
                    <a:lnT w="12700" cap="flat" cmpd="sng" algn="ctr">
                      <a:solidFill>
                        <a:srgbClr val="C1C3C4"/>
                      </a:solidFill>
                      <a:prstDash val="solid"/>
                      <a:round/>
                      <a:headEnd type="none" w="med" len="med"/>
                      <a:tailEnd type="none" w="med" len="med"/>
                    </a:lnT>
                    <a:lnB w="12700" cap="flat" cmpd="sng" algn="ctr">
                      <a:solidFill>
                        <a:srgbClr val="BABDBF"/>
                      </a:solidFill>
                      <a:prstDash val="solid"/>
                      <a:round/>
                      <a:headEnd type="none" w="med" len="med"/>
                      <a:tailEnd type="none" w="med" len="med"/>
                    </a:lnB>
                    <a:solidFill>
                      <a:srgbClr val="E9EDF0"/>
                    </a:solidFill>
                  </a:tcPr>
                </a:tc>
                <a:tc>
                  <a:txBody>
                    <a:bodyPr/>
                    <a:lstStyle/>
                    <a:p>
                      <a:pPr indent="0" marL="0">
                        <a:lnSpc>
                          <a:spcPts val="1844"/>
                        </a:lnSpc>
                        <a:buNone/>
                      </a:pPr>
                      <a:r>
                        <a:rPr lang="en-US" sz="1317" dirty="0">
                          <a:solidFill>
                            <a:srgbClr val="101820"/>
                          </a:solidFill>
                          <a:latin typeface="IBM Plex Sans" pitchFamily="34" charset="0"/>
                          <a:ea typeface="IBM Plex Sans" pitchFamily="34" charset="-122"/>
                          <a:cs typeface="IBM Plex Sans" pitchFamily="34" charset="-120"/>
                        </a:rPr>
                        <a:t>2026-10-04 00:00:15</a:t>
                      </a:r>
                      <a:endParaRPr lang="en-US" sz="1317" dirty="0">
                        <a:latin typeface="IBM Plex Sans" charset="0"/>
                        <a:ea typeface="IBM Plex Sans" charset="0"/>
                        <a:cs typeface="IBM Plex Sans" charset="0"/>
                      </a:endParaRPr>
                    </a:p>
                  </a:txBody>
                  <a:tcPr marL="58535" marR="58535" marT="58535" marB="58535" anchor="t">
                    <a:lnL w="12700" cap="flat" cmpd="sng" algn="ctr">
                      <a:solidFill>
                        <a:srgbClr val="BABDBF"/>
                      </a:solidFill>
                      <a:prstDash val="solid"/>
                      <a:round/>
                      <a:headEnd type="none" w="med" len="med"/>
                      <a:tailEnd type="none" w="med" len="med"/>
                    </a:lnL>
                    <a:lnR w="12700" cap="flat" cmpd="sng" algn="ctr">
                      <a:solidFill>
                        <a:srgbClr val="BABDBF"/>
                      </a:solidFill>
                      <a:prstDash val="solid"/>
                      <a:round/>
                      <a:headEnd type="none" w="med" len="med"/>
                      <a:tailEnd type="none" w="med" len="med"/>
                    </a:lnR>
                    <a:lnT w="12700" cap="flat" cmpd="sng" algn="ctr">
                      <a:solidFill>
                        <a:srgbClr val="C1C3C4"/>
                      </a:solidFill>
                      <a:prstDash val="solid"/>
                      <a:round/>
                      <a:headEnd type="none" w="med" len="med"/>
                      <a:tailEnd type="none" w="med" len="med"/>
                    </a:lnT>
                    <a:lnB w="12700" cap="flat" cmpd="sng" algn="ctr">
                      <a:solidFill>
                        <a:srgbClr val="BABDBF"/>
                      </a:solidFill>
                      <a:prstDash val="solid"/>
                      <a:round/>
                      <a:headEnd type="none" w="med" len="med"/>
                      <a:tailEnd type="none" w="med" len="med"/>
                    </a:lnB>
                    <a:solidFill>
                      <a:srgbClr val="E9EDF0"/>
                    </a:solidFill>
                  </a:tcPr>
                </a:tc>
                <a:tc>
                  <a:txBody>
                    <a:bodyPr/>
                    <a:lstStyle/>
                    <a:p>
                      <a:pPr indent="0" marL="0">
                        <a:lnSpc>
                          <a:spcPts val="1844"/>
                        </a:lnSpc>
                        <a:buNone/>
                      </a:pPr>
                      <a:r>
                        <a:rPr lang="en-US" sz="1317" dirty="0">
                          <a:solidFill>
                            <a:srgbClr val="101820"/>
                          </a:solidFill>
                          <a:latin typeface="IBM Plex Sans" pitchFamily="34" charset="0"/>
                          <a:ea typeface="IBM Plex Sans" pitchFamily="34" charset="-122"/>
                          <a:cs typeface="IBM Plex Sans" pitchFamily="34" charset="-120"/>
                        </a:rPr>
                        <a:t>2026-10-04T00:00:15</a:t>
                      </a:r>
                      <a:endParaRPr lang="en-US" sz="1317" dirty="0">
                        <a:latin typeface="IBM Plex Sans" charset="0"/>
                        <a:ea typeface="IBM Plex Sans" charset="0"/>
                        <a:cs typeface="IBM Plex Sans" charset="0"/>
                      </a:endParaRPr>
                    </a:p>
                  </a:txBody>
                  <a:tcPr marL="58535" marR="58535" marT="58535" marB="58535" anchor="t">
                    <a:lnL w="12700" cap="flat" cmpd="sng" algn="ctr">
                      <a:solidFill>
                        <a:srgbClr val="BABDBF"/>
                      </a:solidFill>
                      <a:prstDash val="solid"/>
                      <a:round/>
                      <a:headEnd type="none" w="med" len="med"/>
                      <a:tailEnd type="none" w="med" len="med"/>
                    </a:lnL>
                    <a:lnR w="12700" cap="flat" cmpd="sng" algn="ctr">
                      <a:solidFill>
                        <a:srgbClr val="BABDBF"/>
                      </a:solidFill>
                      <a:prstDash val="solid"/>
                      <a:round/>
                      <a:headEnd type="none" w="med" len="med"/>
                      <a:tailEnd type="none" w="med" len="med"/>
                    </a:lnR>
                    <a:lnT w="12700" cap="flat" cmpd="sng" algn="ctr">
                      <a:solidFill>
                        <a:srgbClr val="C1C3C4"/>
                      </a:solidFill>
                      <a:prstDash val="solid"/>
                      <a:round/>
                      <a:headEnd type="none" w="med" len="med"/>
                      <a:tailEnd type="none" w="med" len="med"/>
                    </a:lnT>
                    <a:lnB w="12700" cap="flat" cmpd="sng" algn="ctr">
                      <a:solidFill>
                        <a:srgbClr val="BABDBF"/>
                      </a:solidFill>
                      <a:prstDash val="solid"/>
                      <a:round/>
                      <a:headEnd type="none" w="med" len="med"/>
                      <a:tailEnd type="none" w="med" len="med"/>
                    </a:lnB>
                    <a:solidFill>
                      <a:srgbClr val="E9EDF0"/>
                    </a:solidFill>
                  </a:tcPr>
                </a:tc>
              </a:tr>
              <a:tr h="363786">
                <a:tc>
                  <a:txBody>
                    <a:bodyPr/>
                    <a:lstStyle/>
                    <a:p>
                      <a:pPr indent="0" marL="0">
                        <a:lnSpc>
                          <a:spcPts val="1844"/>
                        </a:lnSpc>
                        <a:buNone/>
                      </a:pPr>
                      <a:r>
                        <a:rPr lang="en-US" sz="1317" dirty="0">
                          <a:solidFill>
                            <a:srgbClr val="4A5660"/>
                          </a:solidFill>
                          <a:latin typeface="IBM Plex Sans" pitchFamily="34" charset="0"/>
                          <a:ea typeface="IBM Plex Sans" pitchFamily="34" charset="-122"/>
                          <a:cs typeface="IBM Plex Sans" pitchFamily="34" charset="-120"/>
                        </a:rPr>
                        <a:t>Sea-level pressure</a:t>
                      </a:r>
                      <a:endParaRPr lang="en-US" sz="1317" dirty="0">
                        <a:latin typeface="IBM Plex Sans" charset="0"/>
                        <a:ea typeface="IBM Plex Sans" charset="0"/>
                        <a:cs typeface="IBM Plex Sans" charset="0"/>
                      </a:endParaRPr>
                    </a:p>
                  </a:txBody>
                  <a:tcPr marL="58535" marR="58535" marT="58535" marB="58535" anchor="t">
                    <a:lnL w="0" cap="flat" cmpd="sng" algn="ctr">
                      <a:noFill/>
                    </a:lnL>
                    <a:lnR w="12700" cap="flat" cmpd="sng" algn="ctr">
                      <a:solidFill>
                        <a:srgbClr val="C1C3C4"/>
                      </a:solidFill>
                      <a:prstDash val="solid"/>
                      <a:round/>
                      <a:headEnd type="none" w="med" len="med"/>
                      <a:tailEnd type="none" w="med" len="med"/>
                    </a:lnR>
                    <a:lnT w="12700" cap="flat" cmpd="sng" algn="ctr">
                      <a:solidFill>
                        <a:srgbClr val="BABDBF"/>
                      </a:solidFill>
                      <a:prstDash val="solid"/>
                      <a:round/>
                      <a:headEnd type="none" w="med" len="med"/>
                      <a:tailEnd type="none" w="med" len="med"/>
                    </a:lnT>
                    <a:lnB w="12700" cap="flat" cmpd="sng" algn="ctr">
                      <a:solidFill>
                        <a:srgbClr val="C1C3C4"/>
                      </a:solidFill>
                      <a:prstDash val="solid"/>
                      <a:round/>
                      <a:headEnd type="none" w="med" len="med"/>
                      <a:tailEnd type="none" w="med" len="med"/>
                    </a:lnB>
                  </a:tcPr>
                </a:tc>
                <a:tc>
                  <a:txBody>
                    <a:bodyPr/>
                    <a:lstStyle/>
                    <a:p>
                      <a:pPr indent="0" marL="0">
                        <a:lnSpc>
                          <a:spcPts val="1844"/>
                        </a:lnSpc>
                        <a:buNone/>
                      </a:pPr>
                      <a:r>
                        <a:rPr lang="en-US" sz="1317" dirty="0">
                          <a:solidFill>
                            <a:srgbClr val="101820"/>
                          </a:solidFill>
                          <a:latin typeface="IBM Plex Sans" pitchFamily="34" charset="0"/>
                          <a:ea typeface="IBM Plex Sans" pitchFamily="34" charset="-122"/>
                          <a:cs typeface="IBM Plex Sans" pitchFamily="34" charset="-120"/>
                        </a:rPr>
                        <a:t>pressure_at_sealevel</a:t>
                      </a:r>
                      <a:endParaRPr lang="en-US" sz="1317" dirty="0">
                        <a:latin typeface="IBM Plex Sans" charset="0"/>
                        <a:ea typeface="IBM Plex Sans" charset="0"/>
                        <a:cs typeface="IBM Plex Sans" charset="0"/>
                      </a:endParaRPr>
                    </a:p>
                  </a:txBody>
                  <a:tcPr marL="58535" marR="58535" marT="58535" marB="58535" anchor="t">
                    <a:lnL w="12700" cap="flat" cmpd="sng" algn="ctr">
                      <a:solidFill>
                        <a:srgbClr val="C1C3C4"/>
                      </a:solidFill>
                      <a:prstDash val="solid"/>
                      <a:round/>
                      <a:headEnd type="none" w="med" len="med"/>
                      <a:tailEnd type="none" w="med" len="med"/>
                    </a:lnL>
                    <a:lnR w="12700" cap="flat" cmpd="sng" algn="ctr">
                      <a:solidFill>
                        <a:srgbClr val="C1C3C4"/>
                      </a:solidFill>
                      <a:prstDash val="solid"/>
                      <a:round/>
                      <a:headEnd type="none" w="med" len="med"/>
                      <a:tailEnd type="none" w="med" len="med"/>
                    </a:lnR>
                    <a:lnT w="12700" cap="flat" cmpd="sng" algn="ctr">
                      <a:solidFill>
                        <a:srgbClr val="BABDBF"/>
                      </a:solidFill>
                      <a:prstDash val="solid"/>
                      <a:round/>
                      <a:headEnd type="none" w="med" len="med"/>
                      <a:tailEnd type="none" w="med" len="med"/>
                    </a:lnT>
                    <a:lnB w="12700" cap="flat" cmpd="sng" algn="ctr">
                      <a:solidFill>
                        <a:srgbClr val="C1C3C4"/>
                      </a:solidFill>
                      <a:prstDash val="solid"/>
                      <a:round/>
                      <a:headEnd type="none" w="med" len="med"/>
                      <a:tailEnd type="none" w="med" len="med"/>
                    </a:lnB>
                  </a:tcPr>
                </a:tc>
                <a:tc>
                  <a:txBody>
                    <a:bodyPr/>
                    <a:lstStyle/>
                    <a:p>
                      <a:pPr indent="0" marL="0">
                        <a:lnSpc>
                          <a:spcPts val="1844"/>
                        </a:lnSpc>
                        <a:buNone/>
                      </a:pPr>
                      <a:r>
                        <a:rPr lang="en-US" sz="1317" dirty="0">
                          <a:solidFill>
                            <a:srgbClr val="101820"/>
                          </a:solidFill>
                          <a:latin typeface="IBM Plex Sans" pitchFamily="34" charset="0"/>
                          <a:ea typeface="IBM Plex Sans" pitchFamily="34" charset="-122"/>
                          <a:cs typeface="IBM Plex Sans" pitchFamily="34" charset="-120"/>
                        </a:rPr>
                        <a:t>pressure_sealevel</a:t>
                      </a:r>
                      <a:endParaRPr lang="en-US" sz="1317" dirty="0">
                        <a:latin typeface="IBM Plex Sans" charset="0"/>
                        <a:ea typeface="IBM Plex Sans" charset="0"/>
                        <a:cs typeface="IBM Plex Sans" charset="0"/>
                      </a:endParaRPr>
                    </a:p>
                  </a:txBody>
                  <a:tcPr marL="58535" marR="58535" marT="58535" marB="58535" anchor="t">
                    <a:lnL w="12700" cap="flat" cmpd="sng" algn="ctr">
                      <a:solidFill>
                        <a:srgbClr val="C1C3C4"/>
                      </a:solidFill>
                      <a:prstDash val="solid"/>
                      <a:round/>
                      <a:headEnd type="none" w="med" len="med"/>
                      <a:tailEnd type="none" w="med" len="med"/>
                    </a:lnL>
                    <a:lnR w="12700" cap="flat" cmpd="sng" algn="ctr">
                      <a:solidFill>
                        <a:srgbClr val="C1C3C4"/>
                      </a:solidFill>
                      <a:prstDash val="solid"/>
                      <a:round/>
                      <a:headEnd type="none" w="med" len="med"/>
                      <a:tailEnd type="none" w="med" len="med"/>
                    </a:lnR>
                    <a:lnT w="12700" cap="flat" cmpd="sng" algn="ctr">
                      <a:solidFill>
                        <a:srgbClr val="BABDBF"/>
                      </a:solidFill>
                      <a:prstDash val="solid"/>
                      <a:round/>
                      <a:headEnd type="none" w="med" len="med"/>
                      <a:tailEnd type="none" w="med" len="med"/>
                    </a:lnT>
                    <a:lnB w="12700" cap="flat" cmpd="sng" algn="ctr">
                      <a:solidFill>
                        <a:srgbClr val="C1C3C4"/>
                      </a:solidFill>
                      <a:prstDash val="solid"/>
                      <a:round/>
                      <a:headEnd type="none" w="med" len="med"/>
                      <a:tailEnd type="none" w="med" len="med"/>
                    </a:lnB>
                  </a:tcPr>
                </a:tc>
              </a:tr>
              <a:tr h="363786">
                <a:tc>
                  <a:txBody>
                    <a:bodyPr/>
                    <a:lstStyle/>
                    <a:p>
                      <a:pPr indent="0" marL="0">
                        <a:lnSpc>
                          <a:spcPts val="1844"/>
                        </a:lnSpc>
                        <a:buNone/>
                      </a:pPr>
                      <a:r>
                        <a:rPr lang="en-US" sz="1317" dirty="0">
                          <a:solidFill>
                            <a:srgbClr val="4A5660"/>
                          </a:solidFill>
                          <a:latin typeface="IBM Plex Sans" pitchFamily="34" charset="0"/>
                          <a:ea typeface="IBM Plex Sans" pitchFamily="34" charset="-122"/>
                          <a:cs typeface="IBM Plex Sans" pitchFamily="34" charset="-120"/>
                        </a:rPr>
                        <a:t>Country, indoor flag</a:t>
                      </a:r>
                      <a:endParaRPr lang="en-US" sz="1317" dirty="0">
                        <a:latin typeface="IBM Plex Sans" charset="0"/>
                        <a:ea typeface="IBM Plex Sans" charset="0"/>
                        <a:cs typeface="IBM Plex Sans" charset="0"/>
                      </a:endParaRPr>
                    </a:p>
                  </a:txBody>
                  <a:tcPr marL="58535" marR="58535" marT="58535" marB="58535" anchor="t">
                    <a:lnL w="0" cap="flat" cmpd="sng" algn="ctr">
                      <a:noFill/>
                    </a:lnL>
                    <a:lnR w="12700" cap="flat" cmpd="sng" algn="ctr">
                      <a:solidFill>
                        <a:srgbClr val="BABDBF"/>
                      </a:solidFill>
                      <a:prstDash val="solid"/>
                      <a:round/>
                      <a:headEnd type="none" w="med" len="med"/>
                      <a:tailEnd type="none" w="med" len="med"/>
                    </a:lnR>
                    <a:lnT w="12700" cap="flat" cmpd="sng" algn="ctr">
                      <a:solidFill>
                        <a:srgbClr val="C1C3C4"/>
                      </a:solidFill>
                      <a:prstDash val="solid"/>
                      <a:round/>
                      <a:headEnd type="none" w="med" len="med"/>
                      <a:tailEnd type="none" w="med" len="med"/>
                    </a:lnT>
                    <a:lnB w="12700" cap="flat" cmpd="sng" algn="ctr">
                      <a:solidFill>
                        <a:srgbClr val="BABDBF"/>
                      </a:solidFill>
                      <a:prstDash val="solid"/>
                      <a:round/>
                      <a:headEnd type="none" w="med" len="med"/>
                      <a:tailEnd type="none" w="med" len="med"/>
                    </a:lnB>
                    <a:solidFill>
                      <a:srgbClr val="E9EDF0"/>
                    </a:solidFill>
                  </a:tcPr>
                </a:tc>
                <a:tc>
                  <a:txBody>
                    <a:bodyPr/>
                    <a:lstStyle/>
                    <a:p>
                      <a:pPr indent="0" marL="0">
                        <a:lnSpc>
                          <a:spcPts val="1844"/>
                        </a:lnSpc>
                        <a:buNone/>
                      </a:pPr>
                      <a:r>
                        <a:rPr lang="en-US" sz="1317" dirty="0">
                          <a:solidFill>
                            <a:srgbClr val="101820"/>
                          </a:solidFill>
                          <a:latin typeface="IBM Plex Sans" pitchFamily="34" charset="0"/>
                          <a:ea typeface="IBM Plex Sans" pitchFamily="34" charset="-122"/>
                          <a:cs typeface="IBM Plex Sans" pitchFamily="34" charset="-120"/>
                        </a:rPr>
                        <a:t>Present</a:t>
                      </a:r>
                      <a:endParaRPr lang="en-US" sz="1317" dirty="0">
                        <a:latin typeface="IBM Plex Sans" charset="0"/>
                        <a:ea typeface="IBM Plex Sans" charset="0"/>
                        <a:cs typeface="IBM Plex Sans" charset="0"/>
                      </a:endParaRPr>
                    </a:p>
                  </a:txBody>
                  <a:tcPr marL="58535" marR="58535" marT="58535" marB="58535" anchor="t">
                    <a:lnL w="12700" cap="flat" cmpd="sng" algn="ctr">
                      <a:solidFill>
                        <a:srgbClr val="BABDBF"/>
                      </a:solidFill>
                      <a:prstDash val="solid"/>
                      <a:round/>
                      <a:headEnd type="none" w="med" len="med"/>
                      <a:tailEnd type="none" w="med" len="med"/>
                    </a:lnL>
                    <a:lnR w="12700" cap="flat" cmpd="sng" algn="ctr">
                      <a:solidFill>
                        <a:srgbClr val="BABDBF"/>
                      </a:solidFill>
                      <a:prstDash val="solid"/>
                      <a:round/>
                      <a:headEnd type="none" w="med" len="med"/>
                      <a:tailEnd type="none" w="med" len="med"/>
                    </a:lnR>
                    <a:lnT w="12700" cap="flat" cmpd="sng" algn="ctr">
                      <a:solidFill>
                        <a:srgbClr val="C1C3C4"/>
                      </a:solidFill>
                      <a:prstDash val="solid"/>
                      <a:round/>
                      <a:headEnd type="none" w="med" len="med"/>
                      <a:tailEnd type="none" w="med" len="med"/>
                    </a:lnT>
                    <a:lnB w="12700" cap="flat" cmpd="sng" algn="ctr">
                      <a:solidFill>
                        <a:srgbClr val="BABDBF"/>
                      </a:solidFill>
                      <a:prstDash val="solid"/>
                      <a:round/>
                      <a:headEnd type="none" w="med" len="med"/>
                      <a:tailEnd type="none" w="med" len="med"/>
                    </a:lnB>
                    <a:solidFill>
                      <a:srgbClr val="E9EDF0"/>
                    </a:solidFill>
                  </a:tcPr>
                </a:tc>
                <a:tc>
                  <a:txBody>
                    <a:bodyPr/>
                    <a:lstStyle/>
                    <a:p>
                      <a:pPr indent="0" marL="0">
                        <a:lnSpc>
                          <a:spcPts val="1844"/>
                        </a:lnSpc>
                        <a:buNone/>
                      </a:pPr>
                      <a:r>
                        <a:rPr lang="en-US" sz="1317" dirty="0">
                          <a:solidFill>
                            <a:srgbClr val="101820"/>
                          </a:solidFill>
                          <a:latin typeface="IBM Plex Sans" pitchFamily="34" charset="0"/>
                          <a:ea typeface="IBM Plex Sans" pitchFamily="34" charset="-122"/>
                          <a:cs typeface="IBM Plex Sans" pitchFamily="34" charset="-120"/>
                        </a:rPr>
                        <a:t>Absent</a:t>
                      </a:r>
                      <a:endParaRPr lang="en-US" sz="1317" dirty="0">
                        <a:latin typeface="IBM Plex Sans" charset="0"/>
                        <a:ea typeface="IBM Plex Sans" charset="0"/>
                        <a:cs typeface="IBM Plex Sans" charset="0"/>
                      </a:endParaRPr>
                    </a:p>
                  </a:txBody>
                  <a:tcPr marL="58535" marR="58535" marT="58535" marB="58535" anchor="t">
                    <a:lnL w="12700" cap="flat" cmpd="sng" algn="ctr">
                      <a:solidFill>
                        <a:srgbClr val="BABDBF"/>
                      </a:solidFill>
                      <a:prstDash val="solid"/>
                      <a:round/>
                      <a:headEnd type="none" w="med" len="med"/>
                      <a:tailEnd type="none" w="med" len="med"/>
                    </a:lnL>
                    <a:lnR w="12700" cap="flat" cmpd="sng" algn="ctr">
                      <a:solidFill>
                        <a:srgbClr val="BABDBF"/>
                      </a:solidFill>
                      <a:prstDash val="solid"/>
                      <a:round/>
                      <a:headEnd type="none" w="med" len="med"/>
                      <a:tailEnd type="none" w="med" len="med"/>
                    </a:lnR>
                    <a:lnT w="12700" cap="flat" cmpd="sng" algn="ctr">
                      <a:solidFill>
                        <a:srgbClr val="C1C3C4"/>
                      </a:solidFill>
                      <a:prstDash val="solid"/>
                      <a:round/>
                      <a:headEnd type="none" w="med" len="med"/>
                      <a:tailEnd type="none" w="med" len="med"/>
                    </a:lnT>
                    <a:lnB w="12700" cap="flat" cmpd="sng" algn="ctr">
                      <a:solidFill>
                        <a:srgbClr val="BABDBF"/>
                      </a:solidFill>
                      <a:prstDash val="solid"/>
                      <a:round/>
                      <a:headEnd type="none" w="med" len="med"/>
                      <a:tailEnd type="none" w="med" len="med"/>
                    </a:lnB>
                    <a:solidFill>
                      <a:srgbClr val="E9EDF0"/>
                    </a:solidFill>
                  </a:tcPr>
                </a:tc>
              </a:tr>
            </a:tbl>
          </a:graphicData>
        </a:graphic>
      </p:graphicFrame>
      <p:sp>
        <p:nvSpPr>
          <p:cNvPr id="8" name="Text 5"/>
          <p:cNvSpPr/>
          <p:nvPr/>
        </p:nvSpPr>
        <p:spPr>
          <a:xfrm>
            <a:off x="815975" y="4931271"/>
            <a:ext cx="10560050" cy="907554"/>
          </a:xfrm>
          <a:prstGeom prst="roundRect">
            <a:avLst>
              <a:gd name="adj" fmla="val 9446"/>
            </a:avLst>
          </a:prstGeom>
          <a:solidFill>
            <a:srgbClr val="FFFFFF"/>
          </a:solidFill>
          <a:ln w="6350">
            <a:solidFill>
              <a:srgbClr val="D3DAE0"/>
            </a:solidFill>
            <a:prstDash val="solid"/>
          </a:ln>
        </p:spPr>
        <p:txBody>
          <a:bodyPr wrap="square" lIns="206667" tIns="139744" rIns="0" bIns="139744" rtlCol="0" anchor="ctr">
            <a:normAutofit/>
          </a:bodyPr>
          <a:lstStyle/>
          <a:p>
            <a:pPr algn="l" indent="0" marL="0">
              <a:lnSpc>
                <a:spcPts val="2175"/>
              </a:lnSpc>
              <a:buNone/>
            </a:pPr>
            <a:r>
              <a:rPr lang="en-US" sz="1500" b="1" dirty="0">
                <a:solidFill>
                  <a:srgbClr val="101820"/>
                </a:solidFill>
                <a:latin typeface="IBM Plex Sans" pitchFamily="34" charset="0"/>
                <a:ea typeface="IBM Plex Sans" pitchFamily="34" charset="-122"/>
                <a:cs typeface="IBM Plex Sans" pitchFamily="34" charset="-120"/>
              </a:rPr>
              <a:t>They overlap on purpose.</a:t>
            </a:r>
            <a:r>
              <a:rPr lang="en-US" sz="1500" dirty="0">
                <a:solidFill>
                  <a:srgbClr val="101820"/>
                </a:solidFill>
                <a:latin typeface="IBM Plex Sans" pitchFamily="34" charset="0"/>
                <a:ea typeface="IBM Plex Sans" pitchFamily="34" charset="-122"/>
                <a:cs typeface="IBM Plex Sans" pitchFamily="34" charset="-120"/>
              </a:rPr>
              <a:t> The archive is where the live feed lands a day later — so ingesting both must produce </a:t>
            </a:r>
            <a:r>
              <a:rPr lang="en-US" sz="1500" b="1" dirty="0">
                <a:solidFill>
                  <a:srgbClr val="101820"/>
                </a:solidFill>
                <a:latin typeface="IBM Plex Sans" pitchFamily="34" charset="0"/>
                <a:ea typeface="IBM Plex Sans" pitchFamily="34" charset="-122"/>
                <a:cs typeface="IBM Plex Sans" pitchFamily="34" charset="-120"/>
              </a:rPr>
              <a:t>zero</a:t>
            </a:r>
            <a:r>
              <a:rPr lang="en-US" sz="1500" dirty="0">
                <a:solidFill>
                  <a:srgbClr val="101820"/>
                </a:solidFill>
                <a:latin typeface="IBM Plex Sans" pitchFamily="34" charset="0"/>
                <a:ea typeface="IBM Plex Sans" pitchFamily="34" charset="-122"/>
                <a:cs typeface="IBM Plex Sans" pitchFamily="34" charset="-120"/>
              </a:rPr>
              <a:t> extra rows. Idempotency is a requirement the data imposes, not a test I invented.</a:t>
            </a:r>
            <a:endParaRPr lang="en-US" sz="1500" dirty="0"/>
          </a:p>
        </p:txBody>
      </p:sp>
      <p:sp>
        <p:nvSpPr>
          <p:cNvPr id="9" name="Text 6"/>
          <p:cNvSpPr/>
          <p:nvPr/>
        </p:nvSpPr>
        <p:spPr>
          <a:xfrm>
            <a:off x="812800" y="6238280"/>
            <a:ext cx="49377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9868F"/>
                </a:solidFill>
                <a:latin typeface="JetBrains Mono" pitchFamily="49" charset="0"/>
                <a:ea typeface="JetBrains Mono" pitchFamily="49" charset="-122"/>
                <a:cs typeface="JetBrains Mono" pitchFamily="49" charset="-120"/>
              </a:rPr>
              <a:t>Trap: P1 is PM10, P2 is PM2.5 — P1 is not PM1</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4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0A6670"/>
                </a:solidFill>
                <a:latin typeface="JetBrains Mono" pitchFamily="49" charset="0"/>
                <a:ea typeface="JetBrains Mono" pitchFamily="49" charset="-122"/>
                <a:cs typeface="JetBrains Mono" pitchFamily="49" charset="-120"/>
              </a:rPr>
              <a:t>ARCHITECTURE</a:t>
            </a:r>
            <a:endParaRPr lang="en-US" sz="1200" dirty="0"/>
          </a:p>
        </p:txBody>
      </p:sp>
      <p:sp>
        <p:nvSpPr>
          <p:cNvPr id="3" name="Text 1"/>
          <p:cNvSpPr/>
          <p:nvPr>
            <p:ph type="title"/>
          </p:nvPr>
        </p:nvSpPr>
        <p:spPr>
          <a:xfrm>
            <a:off x="812800" y="1229320"/>
            <a:ext cx="10883392" cy="480566"/>
          </a:xfrm>
          <a:prstGeom prst="rect">
            <a:avLst/>
          </a:prstGeom>
          <a:noFill/>
          <a:ln/>
        </p:spPr>
        <p:txBody>
          <a:bodyPr wrap="square" lIns="0" tIns="0" rIns="0" bIns="0" rtlCol="0" anchor="t">
            <a:normAutofit/>
          </a:bodyPr>
          <a:lstStyle/>
          <a:p>
            <a:pPr algn="l" indent="0" marL="0">
              <a:lnSpc>
                <a:spcPts val="3584"/>
              </a:lnSpc>
              <a:buNone/>
            </a:pPr>
            <a:r>
              <a:rPr lang="en-US" sz="3200" b="1" i="0" dirty="0">
                <a:solidFill>
                  <a:srgbClr val="101820"/>
                </a:solidFill>
                <a:latin typeface="IBM Plex Sans" pitchFamily="34" charset="0"/>
                <a:ea typeface="IBM Plex Sans" pitchFamily="34" charset="-122"/>
                <a:cs typeface="IBM Plex Sans" pitchFamily="34" charset="-120"/>
              </a:rPr>
              <a:t>Five stages, and one branch that matters</a:t>
            </a:r>
            <a:endParaRPr lang="en-US" sz="3200" dirty="0"/>
          </a:p>
        </p:txBody>
      </p:sp>
      <p:sp>
        <p:nvSpPr>
          <p:cNvPr id="4" name="Shape 2"/>
          <p:cNvSpPr/>
          <p:nvPr/>
        </p:nvSpPr>
        <p:spPr>
          <a:xfrm>
            <a:off x="815975" y="2081361"/>
            <a:ext cx="1835150" cy="946150"/>
          </a:xfrm>
          <a:prstGeom prst="roundRect">
            <a:avLst>
              <a:gd name="adj" fmla="val 9060"/>
            </a:avLst>
          </a:prstGeom>
          <a:solidFill>
            <a:srgbClr val="FFFFFF"/>
          </a:solidFill>
          <a:ln w="6350">
            <a:solidFill>
              <a:srgbClr val="D3DAE0"/>
            </a:solidFill>
            <a:prstDash val="solid"/>
          </a:ln>
        </p:spPr>
      </p:sp>
      <p:sp>
        <p:nvSpPr>
          <p:cNvPr id="5" name="Text 3"/>
          <p:cNvSpPr/>
          <p:nvPr/>
        </p:nvSpPr>
        <p:spPr>
          <a:xfrm>
            <a:off x="984250" y="2249636"/>
            <a:ext cx="1549400" cy="184249"/>
          </a:xfrm>
          <a:prstGeom prst="rect">
            <a:avLst/>
          </a:prstGeom>
          <a:noFill/>
          <a:ln/>
        </p:spPr>
        <p:txBody>
          <a:bodyPr wrap="square" lIns="0" tIns="0" rIns="0" bIns="0" rtlCol="0" anchor="t">
            <a:normAutofit/>
          </a:bodyPr>
          <a:lstStyle/>
          <a:p>
            <a:pPr algn="l" indent="0" marL="0">
              <a:lnSpc>
                <a:spcPts val="1273"/>
              </a:lnSpc>
              <a:buNone/>
            </a:pPr>
            <a:r>
              <a:rPr lang="en-US" sz="1061" dirty="0">
                <a:solidFill>
                  <a:srgbClr val="0A6670"/>
                </a:solidFill>
                <a:latin typeface="JetBrains Mono" pitchFamily="49" charset="0"/>
                <a:ea typeface="JetBrains Mono" pitchFamily="49" charset="-122"/>
                <a:cs typeface="JetBrains Mono" pitchFamily="49" charset="-120"/>
              </a:rPr>
              <a:t>SOURCE</a:t>
            </a:r>
            <a:endParaRPr lang="en-US" sz="1061" dirty="0"/>
          </a:p>
        </p:txBody>
      </p:sp>
      <p:sp>
        <p:nvSpPr>
          <p:cNvPr id="6" name="Text 4"/>
          <p:cNvSpPr/>
          <p:nvPr/>
        </p:nvSpPr>
        <p:spPr>
          <a:xfrm>
            <a:off x="984250" y="2471986"/>
            <a:ext cx="1549400" cy="412651"/>
          </a:xfrm>
          <a:prstGeom prst="rect">
            <a:avLst/>
          </a:prstGeom>
          <a:noFill/>
          <a:ln/>
        </p:spPr>
        <p:txBody>
          <a:bodyPr wrap="square" lIns="0" tIns="0" rIns="0" bIns="0" rtlCol="0" anchor="t">
            <a:normAutofit/>
          </a:bodyPr>
          <a:lstStyle/>
          <a:p>
            <a:pPr algn="l" indent="0" marL="0">
              <a:lnSpc>
                <a:spcPts val="1536"/>
              </a:lnSpc>
              <a:buNone/>
            </a:pPr>
            <a:r>
              <a:rPr lang="en-US" sz="1138" dirty="0">
                <a:solidFill>
                  <a:srgbClr val="4A5660"/>
                </a:solidFill>
                <a:latin typeface="IBM Plex Sans" pitchFamily="34" charset="0"/>
                <a:ea typeface="IBM Plex Sans" pitchFamily="34" charset="-122"/>
                <a:cs typeface="IBM Plex Sans" pitchFamily="34" charset="-120"/>
              </a:rPr>
              <a:t>Two upstreams, one reader each</a:t>
            </a:r>
            <a:endParaRPr lang="en-US" sz="1138" dirty="0"/>
          </a:p>
        </p:txBody>
      </p:sp>
      <p:sp>
        <p:nvSpPr>
          <p:cNvPr id="7" name="Shape 5"/>
          <p:cNvSpPr/>
          <p:nvPr/>
        </p:nvSpPr>
        <p:spPr>
          <a:xfrm>
            <a:off x="2994025" y="2081361"/>
            <a:ext cx="1835150" cy="946150"/>
          </a:xfrm>
          <a:prstGeom prst="roundRect">
            <a:avLst>
              <a:gd name="adj" fmla="val 9060"/>
            </a:avLst>
          </a:prstGeom>
          <a:solidFill>
            <a:srgbClr val="FFFFFF"/>
          </a:solidFill>
          <a:ln w="6350">
            <a:solidFill>
              <a:srgbClr val="D3DAE0"/>
            </a:solidFill>
            <a:prstDash val="solid"/>
          </a:ln>
        </p:spPr>
      </p:sp>
      <p:sp>
        <p:nvSpPr>
          <p:cNvPr id="8" name="Text 6"/>
          <p:cNvSpPr/>
          <p:nvPr/>
        </p:nvSpPr>
        <p:spPr>
          <a:xfrm>
            <a:off x="3162300" y="2249636"/>
            <a:ext cx="1549400" cy="184249"/>
          </a:xfrm>
          <a:prstGeom prst="rect">
            <a:avLst/>
          </a:prstGeom>
          <a:noFill/>
          <a:ln/>
        </p:spPr>
        <p:txBody>
          <a:bodyPr wrap="square" lIns="0" tIns="0" rIns="0" bIns="0" rtlCol="0" anchor="t">
            <a:normAutofit/>
          </a:bodyPr>
          <a:lstStyle/>
          <a:p>
            <a:pPr algn="l" indent="0" marL="0">
              <a:lnSpc>
                <a:spcPts val="1273"/>
              </a:lnSpc>
              <a:buNone/>
            </a:pPr>
            <a:r>
              <a:rPr lang="en-US" sz="1061" dirty="0">
                <a:solidFill>
                  <a:srgbClr val="0A6670"/>
                </a:solidFill>
                <a:latin typeface="JetBrains Mono" pitchFamily="49" charset="0"/>
                <a:ea typeface="JetBrains Mono" pitchFamily="49" charset="-122"/>
                <a:cs typeface="JetBrains Mono" pitchFamily="49" charset="-120"/>
              </a:rPr>
              <a:t>INGEST</a:t>
            </a:r>
            <a:endParaRPr lang="en-US" sz="1061" dirty="0"/>
          </a:p>
        </p:txBody>
      </p:sp>
      <p:sp>
        <p:nvSpPr>
          <p:cNvPr id="9" name="Text 7"/>
          <p:cNvSpPr/>
          <p:nvPr/>
        </p:nvSpPr>
        <p:spPr>
          <a:xfrm>
            <a:off x="3162300" y="2471986"/>
            <a:ext cx="1549400" cy="412651"/>
          </a:xfrm>
          <a:prstGeom prst="rect">
            <a:avLst/>
          </a:prstGeom>
          <a:noFill/>
          <a:ln/>
        </p:spPr>
        <p:txBody>
          <a:bodyPr wrap="square" lIns="0" tIns="0" rIns="0" bIns="0" rtlCol="0" anchor="t">
            <a:normAutofit/>
          </a:bodyPr>
          <a:lstStyle/>
          <a:p>
            <a:pPr algn="l" indent="0" marL="0">
              <a:lnSpc>
                <a:spcPts val="1536"/>
              </a:lnSpc>
              <a:buNone/>
            </a:pPr>
            <a:r>
              <a:rPr lang="en-US" sz="1138" dirty="0">
                <a:solidFill>
                  <a:srgbClr val="4A5660"/>
                </a:solidFill>
                <a:latin typeface="IBM Plex Sans" pitchFamily="34" charset="0"/>
                <a:ea typeface="IBM Plex Sans" pitchFamily="34" charset="-122"/>
                <a:cs typeface="IBM Plex Sans" pitchFamily="34" charset="-120"/>
              </a:rPr>
              <a:t>Streamed into 2,000-row chunks</a:t>
            </a:r>
            <a:endParaRPr lang="en-US" sz="1138" dirty="0"/>
          </a:p>
        </p:txBody>
      </p:sp>
      <p:sp>
        <p:nvSpPr>
          <p:cNvPr id="10" name="Shape 8"/>
          <p:cNvSpPr/>
          <p:nvPr/>
        </p:nvSpPr>
        <p:spPr>
          <a:xfrm>
            <a:off x="5172075" y="2081361"/>
            <a:ext cx="1835150" cy="946150"/>
          </a:xfrm>
          <a:prstGeom prst="roundRect">
            <a:avLst>
              <a:gd name="adj" fmla="val 9060"/>
            </a:avLst>
          </a:prstGeom>
          <a:solidFill>
            <a:srgbClr val="FFFFFF"/>
          </a:solidFill>
          <a:ln w="6350">
            <a:solidFill>
              <a:srgbClr val="D3DAE0"/>
            </a:solidFill>
            <a:prstDash val="solid"/>
          </a:ln>
        </p:spPr>
      </p:sp>
      <p:sp>
        <p:nvSpPr>
          <p:cNvPr id="11" name="Text 9"/>
          <p:cNvSpPr/>
          <p:nvPr/>
        </p:nvSpPr>
        <p:spPr>
          <a:xfrm>
            <a:off x="5340350" y="2249636"/>
            <a:ext cx="1549400" cy="184249"/>
          </a:xfrm>
          <a:prstGeom prst="rect">
            <a:avLst/>
          </a:prstGeom>
          <a:noFill/>
          <a:ln/>
        </p:spPr>
        <p:txBody>
          <a:bodyPr wrap="square" lIns="0" tIns="0" rIns="0" bIns="0" rtlCol="0" anchor="t">
            <a:normAutofit/>
          </a:bodyPr>
          <a:lstStyle/>
          <a:p>
            <a:pPr algn="l" indent="0" marL="0">
              <a:lnSpc>
                <a:spcPts val="1273"/>
              </a:lnSpc>
              <a:buNone/>
            </a:pPr>
            <a:r>
              <a:rPr lang="en-US" sz="1061" dirty="0">
                <a:solidFill>
                  <a:srgbClr val="0A6670"/>
                </a:solidFill>
                <a:latin typeface="JetBrains Mono" pitchFamily="49" charset="0"/>
                <a:ea typeface="JetBrains Mono" pitchFamily="49" charset="-122"/>
                <a:cs typeface="JetBrains Mono" pitchFamily="49" charset="-120"/>
              </a:rPr>
              <a:t>STAGING</a:t>
            </a:r>
            <a:endParaRPr lang="en-US" sz="1061" dirty="0"/>
          </a:p>
        </p:txBody>
      </p:sp>
      <p:sp>
        <p:nvSpPr>
          <p:cNvPr id="12" name="Text 10"/>
          <p:cNvSpPr/>
          <p:nvPr/>
        </p:nvSpPr>
        <p:spPr>
          <a:xfrm>
            <a:off x="5340350" y="2471986"/>
            <a:ext cx="1549400" cy="412651"/>
          </a:xfrm>
          <a:prstGeom prst="rect">
            <a:avLst/>
          </a:prstGeom>
          <a:noFill/>
          <a:ln/>
        </p:spPr>
        <p:txBody>
          <a:bodyPr wrap="square" lIns="0" tIns="0" rIns="0" bIns="0" rtlCol="0" anchor="t">
            <a:normAutofit/>
          </a:bodyPr>
          <a:lstStyle/>
          <a:p>
            <a:pPr algn="l" indent="0" marL="0">
              <a:lnSpc>
                <a:spcPts val="1536"/>
              </a:lnSpc>
              <a:buNone/>
            </a:pPr>
            <a:r>
              <a:rPr lang="en-US" sz="1138" dirty="0">
                <a:solidFill>
                  <a:srgbClr val="4A5660"/>
                </a:solidFill>
                <a:latin typeface="IBM Plex Sans" pitchFamily="34" charset="0"/>
                <a:ea typeface="IBM Plex Sans" pitchFamily="34" charset="-122"/>
                <a:cs typeface="IBM Plex Sans" pitchFamily="34" charset="-120"/>
              </a:rPr>
              <a:t>Raw payload kept verbatim</a:t>
            </a:r>
            <a:endParaRPr lang="en-US" sz="1138" dirty="0"/>
          </a:p>
        </p:txBody>
      </p:sp>
      <p:sp>
        <p:nvSpPr>
          <p:cNvPr id="13" name="Shape 11"/>
          <p:cNvSpPr/>
          <p:nvPr/>
        </p:nvSpPr>
        <p:spPr>
          <a:xfrm>
            <a:off x="7350125" y="2081361"/>
            <a:ext cx="1835150" cy="946150"/>
          </a:xfrm>
          <a:prstGeom prst="roundRect">
            <a:avLst>
              <a:gd name="adj" fmla="val 9060"/>
            </a:avLst>
          </a:prstGeom>
          <a:solidFill>
            <a:srgbClr val="FFFFFF"/>
          </a:solidFill>
          <a:ln w="6350">
            <a:solidFill>
              <a:srgbClr val="D3DAE0"/>
            </a:solidFill>
            <a:prstDash val="solid"/>
          </a:ln>
        </p:spPr>
      </p:sp>
      <p:sp>
        <p:nvSpPr>
          <p:cNvPr id="14" name="Text 12"/>
          <p:cNvSpPr/>
          <p:nvPr/>
        </p:nvSpPr>
        <p:spPr>
          <a:xfrm>
            <a:off x="7518400" y="2249636"/>
            <a:ext cx="1549400" cy="184249"/>
          </a:xfrm>
          <a:prstGeom prst="rect">
            <a:avLst/>
          </a:prstGeom>
          <a:noFill/>
          <a:ln/>
        </p:spPr>
        <p:txBody>
          <a:bodyPr wrap="square" lIns="0" tIns="0" rIns="0" bIns="0" rtlCol="0" anchor="t">
            <a:normAutofit/>
          </a:bodyPr>
          <a:lstStyle/>
          <a:p>
            <a:pPr algn="l" indent="0" marL="0">
              <a:lnSpc>
                <a:spcPts val="1273"/>
              </a:lnSpc>
              <a:buNone/>
            </a:pPr>
            <a:r>
              <a:rPr lang="en-US" sz="1061" dirty="0">
                <a:solidFill>
                  <a:srgbClr val="0A6670"/>
                </a:solidFill>
                <a:latin typeface="JetBrains Mono" pitchFamily="49" charset="0"/>
                <a:ea typeface="JetBrains Mono" pitchFamily="49" charset="-122"/>
                <a:cs typeface="JetBrains Mono" pitchFamily="49" charset="-120"/>
              </a:rPr>
              <a:t>TRANSFORM</a:t>
            </a:r>
            <a:endParaRPr lang="en-US" sz="1061" dirty="0"/>
          </a:p>
        </p:txBody>
      </p:sp>
      <p:sp>
        <p:nvSpPr>
          <p:cNvPr id="15" name="Text 13"/>
          <p:cNvSpPr/>
          <p:nvPr/>
        </p:nvSpPr>
        <p:spPr>
          <a:xfrm>
            <a:off x="7518400" y="2471986"/>
            <a:ext cx="1549400" cy="412651"/>
          </a:xfrm>
          <a:prstGeom prst="rect">
            <a:avLst/>
          </a:prstGeom>
          <a:noFill/>
          <a:ln/>
        </p:spPr>
        <p:txBody>
          <a:bodyPr wrap="square" lIns="0" tIns="0" rIns="0" bIns="0" rtlCol="0" anchor="t">
            <a:normAutofit/>
          </a:bodyPr>
          <a:lstStyle/>
          <a:p>
            <a:pPr algn="l" indent="0" marL="0">
              <a:lnSpc>
                <a:spcPts val="1536"/>
              </a:lnSpc>
              <a:buNone/>
            </a:pPr>
            <a:r>
              <a:rPr lang="en-US" sz="1138" dirty="0">
                <a:solidFill>
                  <a:srgbClr val="4A5660"/>
                </a:solidFill>
                <a:latin typeface="IBM Plex Sans" pitchFamily="34" charset="0"/>
                <a:ea typeface="IBM Plex Sans" pitchFamily="34" charset="-122"/>
                <a:cs typeface="IBM Plex Sans" pitchFamily="34" charset="-120"/>
              </a:rPr>
              <a:t>Rules from a table, row by row</a:t>
            </a:r>
            <a:endParaRPr lang="en-US" sz="1138" dirty="0"/>
          </a:p>
        </p:txBody>
      </p:sp>
      <p:sp>
        <p:nvSpPr>
          <p:cNvPr id="16" name="Shape 14"/>
          <p:cNvSpPr/>
          <p:nvPr/>
        </p:nvSpPr>
        <p:spPr>
          <a:xfrm>
            <a:off x="9528175" y="2081361"/>
            <a:ext cx="1835150" cy="946150"/>
          </a:xfrm>
          <a:prstGeom prst="roundRect">
            <a:avLst>
              <a:gd name="adj" fmla="val 9060"/>
            </a:avLst>
          </a:prstGeom>
          <a:solidFill>
            <a:srgbClr val="101820"/>
          </a:solidFill>
          <a:ln w="6350">
            <a:solidFill>
              <a:srgbClr val="101820"/>
            </a:solidFill>
            <a:prstDash val="solid"/>
          </a:ln>
        </p:spPr>
      </p:sp>
      <p:sp>
        <p:nvSpPr>
          <p:cNvPr id="17" name="Text 15"/>
          <p:cNvSpPr/>
          <p:nvPr/>
        </p:nvSpPr>
        <p:spPr>
          <a:xfrm>
            <a:off x="9696450" y="2249636"/>
            <a:ext cx="1549400" cy="184249"/>
          </a:xfrm>
          <a:prstGeom prst="rect">
            <a:avLst/>
          </a:prstGeom>
          <a:noFill/>
          <a:ln/>
        </p:spPr>
        <p:txBody>
          <a:bodyPr wrap="square" lIns="0" tIns="0" rIns="0" bIns="0" rtlCol="0" anchor="t">
            <a:normAutofit/>
          </a:bodyPr>
          <a:lstStyle/>
          <a:p>
            <a:pPr algn="l" indent="0" marL="0">
              <a:lnSpc>
                <a:spcPts val="1273"/>
              </a:lnSpc>
              <a:buNone/>
            </a:pPr>
            <a:r>
              <a:rPr lang="en-US" sz="1061" dirty="0">
                <a:solidFill>
                  <a:srgbClr val="48C3CE"/>
                </a:solidFill>
                <a:latin typeface="JetBrains Mono" pitchFamily="49" charset="0"/>
                <a:ea typeface="JetBrains Mono" pitchFamily="49" charset="-122"/>
                <a:cs typeface="JetBrains Mono" pitchFamily="49" charset="-120"/>
              </a:rPr>
              <a:t>CANONICAL</a:t>
            </a:r>
            <a:endParaRPr lang="en-US" sz="1061" dirty="0"/>
          </a:p>
        </p:txBody>
      </p:sp>
      <p:sp>
        <p:nvSpPr>
          <p:cNvPr id="18" name="Text 16"/>
          <p:cNvSpPr/>
          <p:nvPr/>
        </p:nvSpPr>
        <p:spPr>
          <a:xfrm>
            <a:off x="9696450" y="2471986"/>
            <a:ext cx="1549400" cy="412651"/>
          </a:xfrm>
          <a:prstGeom prst="rect">
            <a:avLst/>
          </a:prstGeom>
          <a:noFill/>
          <a:ln/>
        </p:spPr>
        <p:txBody>
          <a:bodyPr wrap="square" lIns="0" tIns="0" rIns="0" bIns="0" rtlCol="0" anchor="t">
            <a:normAutofit/>
          </a:bodyPr>
          <a:lstStyle/>
          <a:p>
            <a:pPr algn="l" indent="0" marL="0">
              <a:lnSpc>
                <a:spcPts val="1536"/>
              </a:lnSpc>
              <a:buNone/>
            </a:pPr>
            <a:r>
              <a:rPr lang="en-US" sz="1138" dirty="0">
                <a:solidFill>
                  <a:srgbClr val="9FB0B8"/>
                </a:solidFill>
                <a:latin typeface="IBM Plex Sans" pitchFamily="34" charset="0"/>
                <a:ea typeface="IBM Plex Sans" pitchFamily="34" charset="-122"/>
                <a:cs typeface="IBM Plex Sans" pitchFamily="34" charset="-120"/>
              </a:rPr>
              <a:t>MERGE upsert on ExternalKey</a:t>
            </a:r>
            <a:endParaRPr lang="en-US" sz="1138" dirty="0"/>
          </a:p>
        </p:txBody>
      </p:sp>
      <p:pic>
        <p:nvPicPr>
          <p:cNvPr id="19" name="Image 0" descr="connector">    </p:cNvPr>
          <p:cNvPicPr>
            <a:picLocks noChangeAspect="1"/>
          </p:cNvPicPr>
          <p:nvPr/>
        </p:nvPicPr>
        <p:blipFill>
          <a:blip r:embed="rId1"/>
          <a:srcRect l="0" r="0" t="0" b="0"/>
          <a:stretch/>
        </p:blipFill>
        <p:spPr>
          <a:xfrm>
            <a:off x="2616200" y="2516336"/>
            <a:ext cx="412750" cy="76200"/>
          </a:xfrm>
          <a:prstGeom prst="rect">
            <a:avLst/>
          </a:prstGeom>
        </p:spPr>
      </p:pic>
      <p:pic>
        <p:nvPicPr>
          <p:cNvPr id="20" name="Image 1" descr="connector">    </p:cNvPr>
          <p:cNvPicPr>
            <a:picLocks noChangeAspect="1"/>
          </p:cNvPicPr>
          <p:nvPr/>
        </p:nvPicPr>
        <p:blipFill>
          <a:blip r:embed="rId2"/>
          <a:srcRect l="0" r="0" t="0" b="0"/>
          <a:stretch/>
        </p:blipFill>
        <p:spPr>
          <a:xfrm>
            <a:off x="4794250" y="2516336"/>
            <a:ext cx="412750" cy="76200"/>
          </a:xfrm>
          <a:prstGeom prst="rect">
            <a:avLst/>
          </a:prstGeom>
        </p:spPr>
      </p:pic>
      <p:pic>
        <p:nvPicPr>
          <p:cNvPr id="21" name="Image 2" descr="connector">    </p:cNvPr>
          <p:cNvPicPr>
            <a:picLocks noChangeAspect="1"/>
          </p:cNvPicPr>
          <p:nvPr/>
        </p:nvPicPr>
        <p:blipFill>
          <a:blip r:embed="rId3"/>
          <a:srcRect l="0" r="0" t="0" b="0"/>
          <a:stretch/>
        </p:blipFill>
        <p:spPr>
          <a:xfrm>
            <a:off x="6972300" y="2516336"/>
            <a:ext cx="412750" cy="76200"/>
          </a:xfrm>
          <a:prstGeom prst="rect">
            <a:avLst/>
          </a:prstGeom>
        </p:spPr>
      </p:pic>
      <p:pic>
        <p:nvPicPr>
          <p:cNvPr id="22" name="Image 3" descr="connector">    </p:cNvPr>
          <p:cNvPicPr>
            <a:picLocks noChangeAspect="1"/>
          </p:cNvPicPr>
          <p:nvPr/>
        </p:nvPicPr>
        <p:blipFill>
          <a:blip r:embed="rId4"/>
          <a:srcRect l="0" r="0" t="0" b="0"/>
          <a:stretch/>
        </p:blipFill>
        <p:spPr>
          <a:xfrm>
            <a:off x="9137650" y="2503636"/>
            <a:ext cx="438150" cy="101600"/>
          </a:xfrm>
          <a:prstGeom prst="rect">
            <a:avLst/>
          </a:prstGeom>
        </p:spPr>
      </p:pic>
      <p:pic>
        <p:nvPicPr>
          <p:cNvPr id="23" name="Image 4" descr="connector">    </p:cNvPr>
          <p:cNvPicPr>
            <a:picLocks noChangeAspect="1"/>
          </p:cNvPicPr>
          <p:nvPr/>
        </p:nvPicPr>
        <p:blipFill>
          <a:blip r:embed="rId5"/>
          <a:srcRect l="0" r="0" t="0" b="0"/>
          <a:stretch/>
        </p:blipFill>
        <p:spPr>
          <a:xfrm>
            <a:off x="8229600" y="2992586"/>
            <a:ext cx="76200" cy="838200"/>
          </a:xfrm>
          <a:prstGeom prst="rect">
            <a:avLst/>
          </a:prstGeom>
        </p:spPr>
      </p:pic>
      <p:sp>
        <p:nvSpPr>
          <p:cNvPr id="24" name="Shape 17"/>
          <p:cNvSpPr/>
          <p:nvPr/>
        </p:nvSpPr>
        <p:spPr>
          <a:xfrm>
            <a:off x="7350125" y="3795861"/>
            <a:ext cx="1835150" cy="882650"/>
          </a:xfrm>
          <a:prstGeom prst="roundRect">
            <a:avLst>
              <a:gd name="adj" fmla="val 9712"/>
            </a:avLst>
          </a:prstGeom>
          <a:solidFill>
            <a:srgbClr val="FBF1E4"/>
          </a:solidFill>
          <a:ln w="6350">
            <a:solidFill>
              <a:srgbClr val="9C580B"/>
            </a:solidFill>
            <a:prstDash val="solid"/>
          </a:ln>
        </p:spPr>
      </p:sp>
      <p:sp>
        <p:nvSpPr>
          <p:cNvPr id="25" name="Text 18"/>
          <p:cNvSpPr/>
          <p:nvPr/>
        </p:nvSpPr>
        <p:spPr>
          <a:xfrm>
            <a:off x="7518400" y="3964136"/>
            <a:ext cx="1549400" cy="20826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9C580B"/>
                </a:solidFill>
                <a:latin typeface="JetBrains Mono" pitchFamily="49" charset="0"/>
                <a:ea typeface="JetBrains Mono" pitchFamily="49" charset="-122"/>
                <a:cs typeface="JetBrains Mono" pitchFamily="49" charset="-120"/>
              </a:rPr>
              <a:t>DEAD LETTER</a:t>
            </a:r>
            <a:endParaRPr lang="en-US" sz="1200" dirty="0"/>
          </a:p>
        </p:txBody>
      </p:sp>
      <p:sp>
        <p:nvSpPr>
          <p:cNvPr id="26" name="Text 19"/>
          <p:cNvSpPr/>
          <p:nvPr/>
        </p:nvSpPr>
        <p:spPr>
          <a:xfrm>
            <a:off x="7518400" y="4210496"/>
            <a:ext cx="1663700"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6E4408"/>
                </a:solidFill>
                <a:latin typeface="IBM Plex Sans" pitchFamily="34" charset="0"/>
                <a:ea typeface="IBM Plex Sans" pitchFamily="34" charset="-122"/>
                <a:cs typeface="IBM Plex Sans" pitchFamily="34" charset="-120"/>
              </a:rPr>
              <a:t>Per row, with replay</a:t>
            </a:r>
            <a:endParaRPr lang="en-US" sz="1300" dirty="0"/>
          </a:p>
        </p:txBody>
      </p:sp>
      <p:sp>
        <p:nvSpPr>
          <p:cNvPr id="27" name="Text 20"/>
          <p:cNvSpPr/>
          <p:nvPr/>
        </p:nvSpPr>
        <p:spPr>
          <a:xfrm>
            <a:off x="5168900" y="3284686"/>
            <a:ext cx="1962150" cy="84832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79868F"/>
                </a:solidFill>
                <a:latin typeface="IBM Plex Sans" pitchFamily="34" charset="0"/>
                <a:ea typeface="IBM Plex Sans" pitchFamily="34" charset="-122"/>
                <a:cs typeface="IBM Plex Sans" pitchFamily="34" charset="-120"/>
              </a:rPr>
              <a:t>A mapping fix is reprocessable from here — no second request upstream</a:t>
            </a:r>
            <a:endParaRPr lang="en-US" sz="1200" dirty="0"/>
          </a:p>
        </p:txBody>
      </p:sp>
      <p:sp>
        <p:nvSpPr>
          <p:cNvPr id="28" name="Text 21"/>
          <p:cNvSpPr/>
          <p:nvPr/>
        </p:nvSpPr>
        <p:spPr>
          <a:xfrm>
            <a:off x="9398000" y="3919686"/>
            <a:ext cx="2040636"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79868F"/>
                </a:solidFill>
                <a:latin typeface="IBM Plex Sans" pitchFamily="34" charset="0"/>
                <a:ea typeface="IBM Plex Sans" pitchFamily="34" charset="-122"/>
                <a:cs typeface="IBM Plex Sans" pitchFamily="34" charset="-120"/>
              </a:rPr>
              <a:t>One bad row costs one dead letter, never the other 17,769</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4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0A6670"/>
                </a:solidFill>
                <a:latin typeface="JetBrains Mono" pitchFamily="49" charset="0"/>
                <a:ea typeface="JetBrains Mono" pitchFamily="49" charset="-122"/>
                <a:cs typeface="JetBrains Mono" pitchFamily="49" charset="-120"/>
              </a:rPr>
              <a:t>ARCHITECTURE</a:t>
            </a:r>
            <a:endParaRPr lang="en-US" sz="1200" dirty="0"/>
          </a:p>
        </p:txBody>
      </p:sp>
      <p:sp>
        <p:nvSpPr>
          <p:cNvPr id="3" name="Text 1"/>
          <p:cNvSpPr/>
          <p:nvPr>
            <p:ph type="title"/>
          </p:nvPr>
        </p:nvSpPr>
        <p:spPr>
          <a:xfrm>
            <a:off x="812800" y="1254720"/>
            <a:ext cx="10883392" cy="480566"/>
          </a:xfrm>
          <a:prstGeom prst="rect">
            <a:avLst/>
          </a:prstGeom>
          <a:noFill/>
          <a:ln/>
        </p:spPr>
        <p:txBody>
          <a:bodyPr wrap="square" lIns="0" tIns="0" rIns="0" bIns="0" rtlCol="0" anchor="t">
            <a:normAutofit/>
          </a:bodyPr>
          <a:lstStyle/>
          <a:p>
            <a:pPr algn="l" indent="0" marL="0">
              <a:lnSpc>
                <a:spcPts val="3584"/>
              </a:lnSpc>
              <a:buNone/>
            </a:pPr>
            <a:r>
              <a:rPr lang="en-US" sz="3200" b="1" i="0" dirty="0">
                <a:solidFill>
                  <a:srgbClr val="101820"/>
                </a:solidFill>
                <a:latin typeface="IBM Plex Sans" pitchFamily="34" charset="0"/>
                <a:ea typeface="IBM Plex Sans" pitchFamily="34" charset="-122"/>
                <a:cs typeface="IBM Plex Sans" pitchFamily="34" charset="-120"/>
              </a:rPr>
              <a:t>The seam that makes a source configuration</a:t>
            </a:r>
            <a:endParaRPr lang="en-US" sz="3200" dirty="0"/>
          </a:p>
        </p:txBody>
      </p:sp>
      <p:sp>
        <p:nvSpPr>
          <p:cNvPr id="4" name="Shape 2"/>
          <p:cNvSpPr/>
          <p:nvPr/>
        </p:nvSpPr>
        <p:spPr>
          <a:xfrm>
            <a:off x="815975" y="1941661"/>
            <a:ext cx="3210967" cy="1739850"/>
          </a:xfrm>
          <a:prstGeom prst="roundRect">
            <a:avLst>
              <a:gd name="adj" fmla="val 5657"/>
            </a:avLst>
          </a:prstGeom>
          <a:solidFill>
            <a:srgbClr val="FFFFFF"/>
          </a:solidFill>
          <a:ln w="6350">
            <a:solidFill>
              <a:srgbClr val="D3DAE0"/>
            </a:solidFill>
            <a:prstDash val="solid"/>
          </a:ln>
        </p:spPr>
      </p:sp>
      <p:sp>
        <p:nvSpPr>
          <p:cNvPr id="5" name="Text 3"/>
          <p:cNvSpPr/>
          <p:nvPr/>
        </p:nvSpPr>
        <p:spPr>
          <a:xfrm>
            <a:off x="1035050" y="2160736"/>
            <a:ext cx="2856001" cy="20826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0A6670"/>
                </a:solidFill>
                <a:latin typeface="JetBrains Mono" pitchFamily="49" charset="0"/>
                <a:ea typeface="JetBrains Mono" pitchFamily="49" charset="-122"/>
                <a:cs typeface="JetBrains Mono" pitchFamily="49" charset="-120"/>
              </a:rPr>
              <a:t>IPayloadParser</a:t>
            </a:r>
            <a:endParaRPr lang="en-US" sz="1200" dirty="0"/>
          </a:p>
        </p:txBody>
      </p:sp>
      <p:sp>
        <p:nvSpPr>
          <p:cNvPr id="6" name="Text 4"/>
          <p:cNvSpPr/>
          <p:nvPr/>
        </p:nvSpPr>
        <p:spPr>
          <a:xfrm>
            <a:off x="1035050" y="2432496"/>
            <a:ext cx="2856001"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01820"/>
                </a:solidFill>
                <a:latin typeface="IBM Plex Sans" pitchFamily="34" charset="0"/>
                <a:ea typeface="IBM Plex Sans" pitchFamily="34" charset="-122"/>
                <a:cs typeface="IBM Plex Sans" pitchFamily="34" charset="-120"/>
              </a:rPr>
              <a:t>Knows a format</a:t>
            </a:r>
            <a:endParaRPr lang="en-US" sz="1500" dirty="0"/>
          </a:p>
        </p:txBody>
      </p:sp>
      <p:sp>
        <p:nvSpPr>
          <p:cNvPr id="7" name="Text 5"/>
          <p:cNvSpPr/>
          <p:nvPr/>
        </p:nvSpPr>
        <p:spPr>
          <a:xfrm>
            <a:off x="1035050" y="2769046"/>
            <a:ext cx="2856001"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660"/>
                </a:solidFill>
                <a:latin typeface="IBM Plex Sans" pitchFamily="34" charset="0"/>
                <a:ea typeface="IBM Plex Sans" pitchFamily="34" charset="-122"/>
                <a:cs typeface="IBM Plex Sans" pitchFamily="34" charset="-120"/>
              </a:rPr>
              <a:t>Nested JSON, or semicolon CSV whose columns differ per device. Nothing else.</a:t>
            </a:r>
            <a:endParaRPr lang="en-US" sz="1300" dirty="0"/>
          </a:p>
        </p:txBody>
      </p:sp>
      <p:pic>
        <p:nvPicPr>
          <p:cNvPr id="8" name="Image 0" descr="connector">    </p:cNvPr>
          <p:cNvPicPr>
            <a:picLocks noChangeAspect="1"/>
          </p:cNvPicPr>
          <p:nvPr/>
        </p:nvPicPr>
        <p:blipFill>
          <a:blip r:embed="rId1"/>
          <a:srcRect l="0" r="0" t="0" b="0"/>
          <a:stretch/>
        </p:blipFill>
        <p:spPr>
          <a:xfrm>
            <a:off x="4030117" y="2773462"/>
            <a:ext cx="457200" cy="76200"/>
          </a:xfrm>
          <a:prstGeom prst="rect">
            <a:avLst/>
          </a:prstGeom>
        </p:spPr>
      </p:pic>
      <p:sp>
        <p:nvSpPr>
          <p:cNvPr id="9" name="Shape 6"/>
          <p:cNvSpPr/>
          <p:nvPr/>
        </p:nvSpPr>
        <p:spPr>
          <a:xfrm>
            <a:off x="4490492" y="2057202"/>
            <a:ext cx="3211016" cy="1508720"/>
          </a:xfrm>
          <a:prstGeom prst="roundRect">
            <a:avLst>
              <a:gd name="adj" fmla="val 6524"/>
            </a:avLst>
          </a:prstGeom>
          <a:solidFill>
            <a:srgbClr val="E4EDEE"/>
          </a:solidFill>
          <a:ln w="6350">
            <a:solidFill>
              <a:srgbClr val="0A6670"/>
            </a:solidFill>
            <a:prstDash val="solid"/>
          </a:ln>
        </p:spPr>
      </p:sp>
      <p:sp>
        <p:nvSpPr>
          <p:cNvPr id="10" name="Text 7"/>
          <p:cNvSpPr/>
          <p:nvPr/>
        </p:nvSpPr>
        <p:spPr>
          <a:xfrm>
            <a:off x="4709567" y="2276277"/>
            <a:ext cx="2856052" cy="20826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0A6670"/>
                </a:solidFill>
                <a:latin typeface="JetBrains Mono" pitchFamily="49" charset="0"/>
                <a:ea typeface="JetBrains Mono" pitchFamily="49" charset="-122"/>
                <a:cs typeface="JetBrains Mono" pitchFamily="49" charset="-120"/>
              </a:rPr>
              <a:t>ParsedReading</a:t>
            </a:r>
            <a:endParaRPr lang="en-US" sz="1200" dirty="0"/>
          </a:p>
        </p:txBody>
      </p:sp>
      <p:sp>
        <p:nvSpPr>
          <p:cNvPr id="11" name="Text 8"/>
          <p:cNvSpPr/>
          <p:nvPr/>
        </p:nvSpPr>
        <p:spPr>
          <a:xfrm>
            <a:off x="4709567" y="2548037"/>
            <a:ext cx="2856052"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01820"/>
                </a:solidFill>
                <a:latin typeface="IBM Plex Sans" pitchFamily="34" charset="0"/>
                <a:ea typeface="IBM Plex Sans" pitchFamily="34" charset="-122"/>
                <a:cs typeface="IBM Plex Sans" pitchFamily="34" charset="-120"/>
              </a:rPr>
              <a:t>A neutral shape</a:t>
            </a:r>
            <a:endParaRPr lang="en-US" sz="1500" dirty="0"/>
          </a:p>
        </p:txBody>
      </p:sp>
      <p:sp>
        <p:nvSpPr>
          <p:cNvPr id="12" name="Text 9"/>
          <p:cNvSpPr/>
          <p:nvPr/>
        </p:nvSpPr>
        <p:spPr>
          <a:xfrm>
            <a:off x="4709567" y="2884587"/>
            <a:ext cx="2856052"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C5457"/>
                </a:solidFill>
                <a:latin typeface="IBM Plex Sans" pitchFamily="34" charset="0"/>
                <a:ea typeface="IBM Plex Sans" pitchFamily="34" charset="-122"/>
                <a:cs typeface="IBM Plex Sans" pitchFamily="34" charset="-120"/>
              </a:rPr>
              <a:t>Field names as the source spelled them, values still strings.</a:t>
            </a:r>
            <a:endParaRPr lang="en-US" sz="1300" dirty="0"/>
          </a:p>
        </p:txBody>
      </p:sp>
      <p:pic>
        <p:nvPicPr>
          <p:cNvPr id="13" name="Image 1" descr="connector">    </p:cNvPr>
          <p:cNvPicPr>
            <a:picLocks noChangeAspect="1"/>
          </p:cNvPicPr>
          <p:nvPr/>
        </p:nvPicPr>
        <p:blipFill>
          <a:blip r:embed="rId2"/>
          <a:srcRect l="0" r="0" t="0" b="0"/>
          <a:stretch/>
        </p:blipFill>
        <p:spPr>
          <a:xfrm>
            <a:off x="7704683" y="2773462"/>
            <a:ext cx="457200" cy="76200"/>
          </a:xfrm>
          <a:prstGeom prst="rect">
            <a:avLst/>
          </a:prstGeom>
        </p:spPr>
      </p:pic>
      <p:sp>
        <p:nvSpPr>
          <p:cNvPr id="14" name="Shape 10"/>
          <p:cNvSpPr/>
          <p:nvPr/>
        </p:nvSpPr>
        <p:spPr>
          <a:xfrm>
            <a:off x="8165058" y="2057202"/>
            <a:ext cx="3210967" cy="1508720"/>
          </a:xfrm>
          <a:prstGeom prst="roundRect">
            <a:avLst>
              <a:gd name="adj" fmla="val 6524"/>
            </a:avLst>
          </a:prstGeom>
          <a:solidFill>
            <a:srgbClr val="FFFFFF"/>
          </a:solidFill>
          <a:ln w="6350">
            <a:solidFill>
              <a:srgbClr val="D3DAE0"/>
            </a:solidFill>
            <a:prstDash val="solid"/>
          </a:ln>
        </p:spPr>
      </p:sp>
      <p:sp>
        <p:nvSpPr>
          <p:cNvPr id="15" name="Text 11"/>
          <p:cNvSpPr/>
          <p:nvPr/>
        </p:nvSpPr>
        <p:spPr>
          <a:xfrm>
            <a:off x="8384133" y="2276277"/>
            <a:ext cx="2856001" cy="20826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0A6670"/>
                </a:solidFill>
                <a:latin typeface="JetBrains Mono" pitchFamily="49" charset="0"/>
                <a:ea typeface="JetBrains Mono" pitchFamily="49" charset="-122"/>
                <a:cs typeface="JetBrains Mono" pitchFamily="49" charset="-120"/>
              </a:rPr>
              <a:t>MappingEngine</a:t>
            </a:r>
            <a:endParaRPr lang="en-US" sz="1200" dirty="0"/>
          </a:p>
        </p:txBody>
      </p:sp>
      <p:sp>
        <p:nvSpPr>
          <p:cNvPr id="16" name="Text 12"/>
          <p:cNvSpPr/>
          <p:nvPr/>
        </p:nvSpPr>
        <p:spPr>
          <a:xfrm>
            <a:off x="8384133" y="2548037"/>
            <a:ext cx="2856001"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01820"/>
                </a:solidFill>
                <a:latin typeface="IBM Plex Sans" pitchFamily="34" charset="0"/>
                <a:ea typeface="IBM Plex Sans" pitchFamily="34" charset="-122"/>
                <a:cs typeface="IBM Plex Sans" pitchFamily="34" charset="-120"/>
              </a:rPr>
              <a:t>Knows the meaning</a:t>
            </a:r>
            <a:endParaRPr lang="en-US" sz="1500" dirty="0"/>
          </a:p>
        </p:txBody>
      </p:sp>
      <p:sp>
        <p:nvSpPr>
          <p:cNvPr id="17" name="Text 13"/>
          <p:cNvSpPr/>
          <p:nvPr/>
        </p:nvSpPr>
        <p:spPr>
          <a:xfrm>
            <a:off x="8384133" y="2884587"/>
            <a:ext cx="2856001"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660"/>
                </a:solidFill>
                <a:latin typeface="IBM Plex Sans" pitchFamily="34" charset="0"/>
                <a:ea typeface="IBM Plex Sans" pitchFamily="34" charset="-122"/>
                <a:cs typeface="IBM Plex Sans" pitchFamily="34" charset="-120"/>
              </a:rPr>
              <a:t>Rules read from a table. Never sees a format. Pure, so directly testable.</a:t>
            </a:r>
            <a:endParaRPr lang="en-US" sz="1300" dirty="0"/>
          </a:p>
        </p:txBody>
      </p:sp>
      <p:sp>
        <p:nvSpPr>
          <p:cNvPr id="18" name="Text 14"/>
          <p:cNvSpPr/>
          <p:nvPr/>
        </p:nvSpPr>
        <p:spPr>
          <a:xfrm>
            <a:off x="812800" y="3913287"/>
            <a:ext cx="10566400" cy="1260475"/>
          </a:xfrm>
          <a:prstGeom prst="roundRect">
            <a:avLst>
              <a:gd name="adj" fmla="val 8060"/>
            </a:avLst>
          </a:prstGeom>
          <a:solidFill>
            <a:srgbClr val="101820"/>
          </a:solidFill>
          <a:ln/>
        </p:spPr>
        <p:txBody>
          <a:bodyPr wrap="square" lIns="224242" tIns="186142" rIns="0" bIns="160742" rtlCol="0" anchor="t">
            <a:normAutofit/>
          </a:bodyPr>
          <a:lstStyle/>
          <a:p>
            <a:pPr algn="l" indent="0" marL="0">
              <a:lnSpc>
                <a:spcPts val="2175"/>
              </a:lnSpc>
              <a:buNone/>
            </a:pPr>
            <a:r>
              <a:rPr lang="en-US" sz="1500" b="1" dirty="0">
                <a:solidFill>
                  <a:srgbClr val="48C3CE"/>
                </a:solidFill>
                <a:latin typeface="IBM Plex Sans" pitchFamily="34" charset="0"/>
                <a:ea typeface="IBM Plex Sans" pitchFamily="34" charset="-122"/>
                <a:cs typeface="IBM Plex Sans" pitchFamily="34" charset="-120"/>
              </a:rPr>
              <a:t>Adding the second source cost three files</a:t>
            </a:r>
            <a:r>
              <a:rPr lang="en-US" sz="1500" dirty="0">
                <a:solidFill>
                  <a:srgbClr val="D7E0E5"/>
                </a:solidFill>
                <a:latin typeface="IBM Plex Sans" pitchFamily="34" charset="0"/>
                <a:ea typeface="IBM Plex Sans" pitchFamily="34" charset="-122"/>
                <a:cs typeface="IBM Plex Sans" pitchFamily="34" charset="-120"/>
              </a:rPr>
              <a:t> — a parser, a reader, two DI lines. The engine, canonical writer, dead-letter store and services were </a:t>
            </a:r>
            <a:r>
              <a:rPr lang="en-US" sz="1500" b="1" dirty="0">
                <a:solidFill>
                  <a:srgbClr val="D7E0E5"/>
                </a:solidFill>
                <a:latin typeface="IBM Plex Sans" pitchFamily="34" charset="0"/>
                <a:ea typeface="IBM Plex Sans" pitchFamily="34" charset="-122"/>
                <a:cs typeface="IBM Plex Sans" pitchFamily="34" charset="-120"/>
              </a:rPr>
              <a:t>not modified</a:t>
            </a:r>
            <a:r>
              <a:rPr lang="en-US" sz="1500" dirty="0">
                <a:solidFill>
                  <a:srgbClr val="D7E0E5"/>
                </a:solidFill>
                <a:latin typeface="IBM Plex Sans" pitchFamily="34" charset="0"/>
                <a:ea typeface="IBM Plex Sans" pitchFamily="34" charset="-122"/>
                <a:cs typeface="IBM Plex Sans" pitchFamily="34" charset="-120"/>
              </a:rPr>
              <a:t>. Its nine mapping rules had been seeded a phase earlier, before the parser existed. First run: 4,560 rows, zero dead letters.</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0182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48C3CE"/>
                </a:solidFill>
                <a:latin typeface="JetBrains Mono" pitchFamily="49" charset="0"/>
                <a:ea typeface="JetBrains Mono" pitchFamily="49" charset="-122"/>
                <a:cs typeface="JetBrains Mono" pitchFamily="49" charset="-120"/>
              </a:rPr>
              <a:t>ARCHITECTURE</a:t>
            </a:r>
            <a:endParaRPr lang="en-US" sz="1200" dirty="0"/>
          </a:p>
        </p:txBody>
      </p:sp>
      <p:sp>
        <p:nvSpPr>
          <p:cNvPr id="3" name="Text 1"/>
          <p:cNvSpPr/>
          <p:nvPr>
            <p:ph type="title"/>
          </p:nvPr>
        </p:nvSpPr>
        <p:spPr>
          <a:xfrm>
            <a:off x="812800" y="1242020"/>
            <a:ext cx="10883392" cy="480566"/>
          </a:xfrm>
          <a:prstGeom prst="rect">
            <a:avLst/>
          </a:prstGeom>
          <a:noFill/>
          <a:ln/>
        </p:spPr>
        <p:txBody>
          <a:bodyPr wrap="square" lIns="0" tIns="0" rIns="0" bIns="0" rtlCol="0" anchor="t">
            <a:normAutofit/>
          </a:bodyPr>
          <a:lstStyle/>
          <a:p>
            <a:pPr algn="l" indent="0" marL="0">
              <a:lnSpc>
                <a:spcPts val="3584"/>
              </a:lnSpc>
              <a:buNone/>
            </a:pPr>
            <a:r>
              <a:rPr lang="en-US" sz="3200" b="1" i="0" dirty="0">
                <a:solidFill>
                  <a:srgbClr val="F4F7F8"/>
                </a:solidFill>
                <a:latin typeface="IBM Plex Sans" pitchFamily="34" charset="0"/>
                <a:ea typeface="IBM Plex Sans" pitchFamily="34" charset="-122"/>
                <a:cs typeface="IBM Plex Sans" pitchFamily="34" charset="-120"/>
              </a:rPr>
              <a:t>One observation, seen twice, is one row</a:t>
            </a:r>
            <a:endParaRPr lang="en-US" sz="3200" dirty="0"/>
          </a:p>
        </p:txBody>
      </p:sp>
      <p:sp>
        <p:nvSpPr>
          <p:cNvPr id="4" name="Shape 2"/>
          <p:cNvSpPr/>
          <p:nvPr/>
        </p:nvSpPr>
        <p:spPr>
          <a:xfrm>
            <a:off x="815975" y="1916261"/>
            <a:ext cx="10560050" cy="1118791"/>
          </a:xfrm>
          <a:prstGeom prst="roundRect">
            <a:avLst>
              <a:gd name="adj" fmla="val 8797"/>
            </a:avLst>
          </a:prstGeom>
          <a:solidFill>
            <a:srgbClr val="16222B"/>
          </a:solidFill>
          <a:ln w="6350">
            <a:solidFill>
              <a:srgbClr val="2C3A44"/>
            </a:solidFill>
            <a:prstDash val="solid"/>
          </a:ln>
        </p:spPr>
      </p:sp>
      <p:sp>
        <p:nvSpPr>
          <p:cNvPr id="5" name="Text 3"/>
          <p:cNvSpPr/>
          <p:nvPr/>
        </p:nvSpPr>
        <p:spPr>
          <a:xfrm>
            <a:off x="1073150" y="2135336"/>
            <a:ext cx="1034707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9868F"/>
                </a:solidFill>
                <a:latin typeface="JetBrains Mono" pitchFamily="49" charset="0"/>
                <a:ea typeface="JetBrains Mono" pitchFamily="49" charset="-122"/>
                <a:cs typeface="JetBrains Mono" pitchFamily="49" charset="-120"/>
              </a:rPr>
              <a:t>ExternalKey</a:t>
            </a:r>
            <a:endParaRPr lang="en-US" sz="1200" dirty="0"/>
          </a:p>
        </p:txBody>
      </p:sp>
      <p:sp>
        <p:nvSpPr>
          <p:cNvPr id="6" name="Text 4"/>
          <p:cNvSpPr/>
          <p:nvPr/>
        </p:nvSpPr>
        <p:spPr>
          <a:xfrm>
            <a:off x="1073150" y="2424857"/>
            <a:ext cx="10347071"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48C3CE"/>
                </a:solidFill>
                <a:latin typeface="JetBrains Mono" pitchFamily="49" charset="0"/>
                <a:ea typeface="JetBrains Mono" pitchFamily="49" charset="-122"/>
                <a:cs typeface="JetBrains Mono" pitchFamily="49" charset="-120"/>
              </a:rPr>
              <a:t>1000:2026-10-04T00:00:15Z</a:t>
            </a:r>
            <a:endParaRPr lang="en-US" sz="2200" dirty="0"/>
          </a:p>
        </p:txBody>
      </p:sp>
      <p:sp>
        <p:nvSpPr>
          <p:cNvPr id="7" name="Shape 5"/>
          <p:cNvSpPr/>
          <p:nvPr/>
        </p:nvSpPr>
        <p:spPr>
          <a:xfrm>
            <a:off x="812800" y="3263652"/>
            <a:ext cx="3403600" cy="0"/>
          </a:xfrm>
          <a:prstGeom prst="line">
            <a:avLst/>
          </a:prstGeom>
          <a:noFill/>
          <a:ln w="19050">
            <a:solidFill>
              <a:srgbClr val="48C3CE"/>
            </a:solidFill>
            <a:prstDash val="solid"/>
          </a:ln>
        </p:spPr>
      </p:sp>
      <p:sp>
        <p:nvSpPr>
          <p:cNvPr id="8" name="Text 6"/>
          <p:cNvSpPr/>
          <p:nvPr/>
        </p:nvSpPr>
        <p:spPr>
          <a:xfrm>
            <a:off x="812800" y="3425577"/>
            <a:ext cx="350570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4F7F8"/>
                </a:solidFill>
                <a:latin typeface="IBM Plex Sans" pitchFamily="34" charset="0"/>
                <a:ea typeface="IBM Plex Sans" pitchFamily="34" charset="-122"/>
                <a:cs typeface="IBM Plex Sans" pitchFamily="34" charset="-120"/>
              </a:rPr>
              <a:t>Truncated to whole seconds</a:t>
            </a:r>
            <a:endParaRPr lang="en-US" sz="1500" dirty="0"/>
          </a:p>
        </p:txBody>
      </p:sp>
      <p:sp>
        <p:nvSpPr>
          <p:cNvPr id="9" name="Text 7"/>
          <p:cNvSpPr/>
          <p:nvPr/>
        </p:nvSpPr>
        <p:spPr>
          <a:xfrm>
            <a:off x="812800" y="3730377"/>
            <a:ext cx="3505708" cy="74349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9FB0B8"/>
                </a:solidFill>
                <a:latin typeface="IBM Plex Sans" pitchFamily="34" charset="0"/>
                <a:ea typeface="IBM Plex Sans" pitchFamily="34" charset="-122"/>
                <a:cs typeface="IBM Plex Sans" pitchFamily="34" charset="-120"/>
              </a:rPr>
              <a:t>The two sources disagree on sub-second precision. A key that kept milliseconds would store the reading twice and fail </a:t>
            </a:r>
            <a:r>
              <a:rPr lang="en-US" sz="1300" i="1" dirty="0">
                <a:solidFill>
                  <a:srgbClr val="9FB0B8"/>
                </a:solidFill>
                <a:latin typeface="IBM Plex Sans" pitchFamily="34" charset="0"/>
                <a:ea typeface="IBM Plex Sans" pitchFamily="34" charset="-122"/>
                <a:cs typeface="IBM Plex Sans" pitchFamily="34" charset="-120"/>
              </a:rPr>
              <a:t>silently</a:t>
            </a:r>
            <a:r>
              <a:rPr lang="en-US" sz="1300" dirty="0">
                <a:solidFill>
                  <a:srgbClr val="9FB0B8"/>
                </a:solidFill>
                <a:latin typeface="IBM Plex Sans" pitchFamily="34" charset="0"/>
                <a:ea typeface="IBM Plex Sans" pitchFamily="34" charset="-122"/>
                <a:cs typeface="IBM Plex Sans" pitchFamily="34" charset="-120"/>
              </a:rPr>
              <a:t>.</a:t>
            </a:r>
            <a:endParaRPr lang="en-US" sz="1300" dirty="0"/>
          </a:p>
        </p:txBody>
      </p:sp>
      <p:sp>
        <p:nvSpPr>
          <p:cNvPr id="10" name="Shape 8"/>
          <p:cNvSpPr/>
          <p:nvPr/>
        </p:nvSpPr>
        <p:spPr>
          <a:xfrm>
            <a:off x="4394200" y="3263652"/>
            <a:ext cx="3403600" cy="0"/>
          </a:xfrm>
          <a:prstGeom prst="line">
            <a:avLst/>
          </a:prstGeom>
          <a:noFill/>
          <a:ln w="19050">
            <a:solidFill>
              <a:srgbClr val="48C3CE"/>
            </a:solidFill>
            <a:prstDash val="solid"/>
          </a:ln>
        </p:spPr>
      </p:sp>
      <p:sp>
        <p:nvSpPr>
          <p:cNvPr id="11" name="Text 9"/>
          <p:cNvSpPr/>
          <p:nvPr/>
        </p:nvSpPr>
        <p:spPr>
          <a:xfrm>
            <a:off x="4394200" y="3425577"/>
            <a:ext cx="350570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4F7F8"/>
                </a:solidFill>
                <a:latin typeface="IBM Plex Sans" pitchFamily="34" charset="0"/>
                <a:ea typeface="IBM Plex Sans" pitchFamily="34" charset="-122"/>
                <a:cs typeface="IBM Plex Sans" pitchFamily="34" charset="-120"/>
              </a:rPr>
              <a:t>MERGE with HOLDLOCK</a:t>
            </a:r>
            <a:endParaRPr lang="en-US" sz="1500" dirty="0"/>
          </a:p>
        </p:txBody>
      </p:sp>
      <p:sp>
        <p:nvSpPr>
          <p:cNvPr id="12" name="Text 10"/>
          <p:cNvSpPr/>
          <p:nvPr/>
        </p:nvSpPr>
        <p:spPr>
          <a:xfrm>
            <a:off x="4394200" y="3730377"/>
            <a:ext cx="3505708" cy="74349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9FB0B8"/>
                </a:solidFill>
                <a:latin typeface="IBM Plex Sans" pitchFamily="34" charset="0"/>
                <a:ea typeface="IBM Plex Sans" pitchFamily="34" charset="-122"/>
                <a:cs typeface="IBM Plex Sans" pitchFamily="34" charset="-120"/>
              </a:rPr>
              <a:t>Without the lock hint, MERGE can race itself between the match test and the insert, and violate its own unique index.</a:t>
            </a:r>
            <a:endParaRPr lang="en-US" sz="1300" dirty="0"/>
          </a:p>
        </p:txBody>
      </p:sp>
      <p:sp>
        <p:nvSpPr>
          <p:cNvPr id="13" name="Shape 11"/>
          <p:cNvSpPr/>
          <p:nvPr/>
        </p:nvSpPr>
        <p:spPr>
          <a:xfrm>
            <a:off x="7975600" y="3263652"/>
            <a:ext cx="3403600" cy="0"/>
          </a:xfrm>
          <a:prstGeom prst="line">
            <a:avLst/>
          </a:prstGeom>
          <a:noFill/>
          <a:ln w="19050">
            <a:solidFill>
              <a:srgbClr val="48C3CE"/>
            </a:solidFill>
            <a:prstDash val="solid"/>
          </a:ln>
        </p:spPr>
      </p:sp>
      <p:sp>
        <p:nvSpPr>
          <p:cNvPr id="14" name="Text 12"/>
          <p:cNvSpPr/>
          <p:nvPr/>
        </p:nvSpPr>
        <p:spPr>
          <a:xfrm>
            <a:off x="7975600" y="3425577"/>
            <a:ext cx="350570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4F7F8"/>
                </a:solidFill>
                <a:latin typeface="IBM Plex Sans" pitchFamily="34" charset="0"/>
                <a:ea typeface="IBM Plex Sans" pitchFamily="34" charset="-122"/>
                <a:cs typeface="IBM Plex Sans" pitchFamily="34" charset="-120"/>
              </a:rPr>
              <a:t>Null means “not supplied”</a:t>
            </a:r>
            <a:endParaRPr lang="en-US" sz="1500" dirty="0"/>
          </a:p>
        </p:txBody>
      </p:sp>
      <p:sp>
        <p:nvSpPr>
          <p:cNvPr id="15" name="Text 13"/>
          <p:cNvSpPr/>
          <p:nvPr/>
        </p:nvSpPr>
        <p:spPr>
          <a:xfrm>
            <a:off x="7975600" y="3730377"/>
            <a:ext cx="3505708" cy="74349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9FB0B8"/>
                </a:solidFill>
                <a:latin typeface="IBM Plex Sans" pitchFamily="34" charset="0"/>
                <a:ea typeface="IBM Plex Sans" pitchFamily="34" charset="-122"/>
                <a:cs typeface="IBM Plex Sans" pitchFamily="34" charset="-120"/>
              </a:rPr>
              <a:t>COALESCE, not assignment — or the archive erases the country the live feed gave, with no error anywhere.</a:t>
            </a:r>
            <a:endParaRPr lang="en-US" sz="1300" dirty="0"/>
          </a:p>
        </p:txBody>
      </p:sp>
      <p:sp>
        <p:nvSpPr>
          <p:cNvPr id="16" name="Shape 14"/>
          <p:cNvSpPr/>
          <p:nvPr/>
        </p:nvSpPr>
        <p:spPr>
          <a:xfrm>
            <a:off x="812800" y="4664373"/>
            <a:ext cx="10566400" cy="604490"/>
          </a:xfrm>
          <a:prstGeom prst="roundRect">
            <a:avLst>
              <a:gd name="adj" fmla="val 12606"/>
            </a:avLst>
          </a:prstGeom>
          <a:solidFill>
            <a:srgbClr val="16222B"/>
          </a:solidFill>
          <a:ln/>
        </p:spPr>
      </p:sp>
      <p:sp>
        <p:nvSpPr>
          <p:cNvPr id="17" name="Shape 15"/>
          <p:cNvSpPr/>
          <p:nvPr/>
        </p:nvSpPr>
        <p:spPr>
          <a:xfrm>
            <a:off x="812800" y="4664373"/>
            <a:ext cx="10566400" cy="604490"/>
          </a:xfrm>
          <a:custGeom>
            <a:avLst/>
            <a:gdLst/>
            <a:ahLst/>
            <a:cxnLst/>
            <a:rect l="l" t="t" r="r" b="b"/>
            <a:pathLst>
              <a:path w="10566400" h="604490">
                <a:moveTo>
                  <a:pt x="76200" y="604490"/>
                </a:moveTo>
                <a:lnTo>
                  <a:pt x="76200" y="604490"/>
                </a:lnTo>
                <a:arcTo hR="76200" wR="76200" stAng="5400000" swAng="5400000"/>
                <a:lnTo>
                  <a:pt x="0" y="76200"/>
                </a:lnTo>
                <a:arcTo hR="76200" wR="76200" stAng="10800000" swAng="5400000"/>
                <a:lnTo>
                  <a:pt x="76200" y="0"/>
                </a:lnTo>
                <a:arcTo hR="76200" wR="38100" stAng="16200000" swAng="-5400000"/>
                <a:lnTo>
                  <a:pt x="38100" y="528290"/>
                </a:lnTo>
                <a:arcTo hR="76200" wR="38100" stAng="10800000" swAng="-5400000"/>
                <a:close/>
              </a:path>
            </a:pathLst>
          </a:custGeom>
          <a:solidFill>
            <a:srgbClr val="48C3CE"/>
          </a:solidFill>
          <a:ln/>
        </p:spPr>
      </p:sp>
      <p:sp>
        <p:nvSpPr>
          <p:cNvPr id="18" name="Text 16"/>
          <p:cNvSpPr/>
          <p:nvPr/>
        </p:nvSpPr>
        <p:spPr>
          <a:xfrm>
            <a:off x="1079500" y="4842173"/>
            <a:ext cx="286514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7E0E5"/>
                </a:solidFill>
                <a:latin typeface="JetBrains Mono" pitchFamily="49" charset="0"/>
                <a:ea typeface="JetBrains Mono" pitchFamily="49" charset="-122"/>
                <a:cs typeface="JetBrains Mono" pitchFamily="49" charset="-120"/>
              </a:rPr>
              <a:t>readings 22,163 → 22,163</a:t>
            </a:r>
            <a:endParaRPr lang="en-US" sz="1400" dirty="0"/>
          </a:p>
        </p:txBody>
      </p:sp>
      <p:sp>
        <p:nvSpPr>
          <p:cNvPr id="19" name="Text 17"/>
          <p:cNvSpPr/>
          <p:nvPr/>
        </p:nvSpPr>
        <p:spPr>
          <a:xfrm>
            <a:off x="3944640" y="4842173"/>
            <a:ext cx="201171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7E0E5"/>
                </a:solidFill>
                <a:latin typeface="JetBrains Mono" pitchFamily="49" charset="0"/>
                <a:ea typeface="JetBrains Mono" pitchFamily="49" charset="-122"/>
                <a:cs typeface="JetBrains Mono" pitchFamily="49" charset="-120"/>
              </a:rPr>
              <a:t>duplicate keys 0</a:t>
            </a:r>
            <a:endParaRPr lang="en-US" sz="1400" dirty="0"/>
          </a:p>
        </p:txBody>
      </p:sp>
      <p:sp>
        <p:nvSpPr>
          <p:cNvPr id="20" name="Text 18"/>
          <p:cNvSpPr/>
          <p:nvPr/>
        </p:nvSpPr>
        <p:spPr>
          <a:xfrm>
            <a:off x="5956350" y="4854873"/>
            <a:ext cx="3612952"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79868F"/>
                </a:solidFill>
                <a:latin typeface="IBM Plex Sans" pitchFamily="34" charset="0"/>
                <a:ea typeface="IBM Plex Sans" pitchFamily="34" charset="-122"/>
                <a:cs typeface="IBM Plex Sans" pitchFamily="34" charset="-120"/>
              </a:rPr>
              <a:t>after re-processing the same 4,560 rows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F4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0A6670"/>
                </a:solidFill>
                <a:latin typeface="JetBrains Mono" pitchFamily="49" charset="0"/>
                <a:ea typeface="JetBrains Mono" pitchFamily="49" charset="-122"/>
                <a:cs typeface="JetBrains Mono" pitchFamily="49" charset="-120"/>
              </a:rPr>
              <a:t>TECH STACK</a:t>
            </a:r>
            <a:endParaRPr lang="en-US" sz="1200" dirty="0"/>
          </a:p>
        </p:txBody>
      </p:sp>
      <p:sp>
        <p:nvSpPr>
          <p:cNvPr id="3" name="Text 1"/>
          <p:cNvSpPr/>
          <p:nvPr>
            <p:ph type="title"/>
          </p:nvPr>
        </p:nvSpPr>
        <p:spPr>
          <a:xfrm>
            <a:off x="812800" y="1229320"/>
            <a:ext cx="10883392" cy="480566"/>
          </a:xfrm>
          <a:prstGeom prst="rect">
            <a:avLst/>
          </a:prstGeom>
          <a:noFill/>
          <a:ln/>
        </p:spPr>
        <p:txBody>
          <a:bodyPr wrap="square" lIns="0" tIns="0" rIns="0" bIns="0" rtlCol="0" anchor="t">
            <a:normAutofit/>
          </a:bodyPr>
          <a:lstStyle/>
          <a:p>
            <a:pPr algn="l" indent="0" marL="0">
              <a:lnSpc>
                <a:spcPts val="3584"/>
              </a:lnSpc>
              <a:buNone/>
            </a:pPr>
            <a:r>
              <a:rPr lang="en-US" sz="3200" b="1" i="0" dirty="0">
                <a:solidFill>
                  <a:srgbClr val="101820"/>
                </a:solidFill>
                <a:latin typeface="IBM Plex Sans" pitchFamily="34" charset="0"/>
                <a:ea typeface="IBM Plex Sans" pitchFamily="34" charset="-122"/>
                <a:cs typeface="IBM Plex Sans" pitchFamily="34" charset="-120"/>
              </a:rPr>
              <a:t>Every choice has a reason it could lose</a:t>
            </a:r>
            <a:endParaRPr lang="en-US" sz="3200" dirty="0"/>
          </a:p>
        </p:txBody>
      </p:sp>
      <p:sp>
        <p:nvSpPr>
          <p:cNvPr id="4" name="Shape 2"/>
          <p:cNvSpPr/>
          <p:nvPr/>
        </p:nvSpPr>
        <p:spPr>
          <a:xfrm>
            <a:off x="812800" y="1894036"/>
            <a:ext cx="10566400" cy="0"/>
          </a:xfrm>
          <a:prstGeom prst="line">
            <a:avLst/>
          </a:prstGeom>
          <a:noFill/>
          <a:ln w="12700">
            <a:solidFill>
              <a:srgbClr val="141413">
                <a:alpha val="22000"/>
              </a:srgbClr>
            </a:solidFill>
            <a:prstDash val="solid"/>
          </a:ln>
        </p:spPr>
      </p:sp>
      <p:sp>
        <p:nvSpPr>
          <p:cNvPr id="5" name="Shape 3"/>
          <p:cNvSpPr/>
          <p:nvPr/>
        </p:nvSpPr>
        <p:spPr>
          <a:xfrm>
            <a:off x="819150" y="1887686"/>
            <a:ext cx="0" cy="3638550"/>
          </a:xfrm>
          <a:prstGeom prst="line">
            <a:avLst/>
          </a:prstGeom>
          <a:noFill/>
          <a:ln w="12700">
            <a:solidFill>
              <a:srgbClr val="141413">
                <a:alpha val="22000"/>
              </a:srgbClr>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939800" y="1982936"/>
          <a:ext cx="10325100" cy="3460750"/>
        </p:xfrm>
        <a:graphic>
          <a:graphicData uri="http://schemas.openxmlformats.org/drawingml/2006/table">
            <a:tbl>
              <a:tblPr/>
              <a:tblGrid>
                <a:gridCol w="2271522"/>
                <a:gridCol w="3510534"/>
                <a:gridCol w="4543044"/>
              </a:tblGrid>
              <a:tr h="346075">
                <a:tc>
                  <a:txBody>
                    <a:bodyPr/>
                    <a:lstStyle/>
                    <a:p>
                      <a:pPr indent="0" marL="0">
                        <a:lnSpc>
                          <a:spcPts val="1750"/>
                        </a:lnSpc>
                        <a:buNone/>
                      </a:pPr>
                      <a:r>
                        <a:rPr lang="en-US" sz="1250" b="1" dirty="0">
                          <a:solidFill>
                            <a:srgbClr val="101820"/>
                          </a:solidFill>
                          <a:latin typeface="IBM Plex Sans" pitchFamily="34" charset="0"/>
                          <a:ea typeface="IBM Plex Sans" pitchFamily="34" charset="-122"/>
                          <a:cs typeface="IBM Plex Sans" pitchFamily="34" charset="-120"/>
                        </a:rPr>
                        <a:t>Concern</a:t>
                      </a:r>
                      <a:endParaRPr lang="en-US" sz="1250" dirty="0">
                        <a:latin typeface="IBM Plex Sans" charset="0"/>
                        <a:ea typeface="IBM Plex Sans" charset="0"/>
                        <a:cs typeface="IBM Plex Sans" charset="0"/>
                      </a:endParaRPr>
                    </a:p>
                  </a:txBody>
                  <a:tcPr marL="55563" marR="55563" marT="55563" marB="55563" anchor="t">
                    <a:lnL w="0" cap="flat" cmpd="sng" algn="ctr">
                      <a:noFill/>
                    </a:lnL>
                    <a:lnR w="12700" cap="flat" cmpd="sng" algn="ctr">
                      <a:solidFill>
                        <a:srgbClr val="B6BABD"/>
                      </a:solidFill>
                      <a:prstDash val="solid"/>
                      <a:round/>
                      <a:headEnd type="none" w="med" len="med"/>
                      <a:tailEnd type="none" w="med" len="med"/>
                    </a:lnR>
                    <a:lnT w="0" cap="flat" cmpd="sng" algn="ctr">
                      <a:noFill/>
                    </a:lnT>
                    <a:lnB w="12700" cap="flat" cmpd="sng" algn="ctr">
                      <a:solidFill>
                        <a:srgbClr val="B6BABD"/>
                      </a:solidFill>
                      <a:prstDash val="solid"/>
                      <a:round/>
                      <a:headEnd type="none" w="med" len="med"/>
                      <a:tailEnd type="none" w="med" len="med"/>
                    </a:lnB>
                    <a:solidFill>
                      <a:srgbClr val="E4E9ED"/>
                    </a:solidFill>
                  </a:tcPr>
                </a:tc>
                <a:tc>
                  <a:txBody>
                    <a:bodyPr/>
                    <a:lstStyle/>
                    <a:p>
                      <a:pPr indent="0" marL="0">
                        <a:lnSpc>
                          <a:spcPts val="1750"/>
                        </a:lnSpc>
                        <a:buNone/>
                      </a:pPr>
                      <a:r>
                        <a:rPr lang="en-US" sz="1250" b="1" dirty="0">
                          <a:solidFill>
                            <a:srgbClr val="101820"/>
                          </a:solidFill>
                          <a:latin typeface="IBM Plex Sans" pitchFamily="34" charset="0"/>
                          <a:ea typeface="IBM Plex Sans" pitchFamily="34" charset="-122"/>
                          <a:cs typeface="IBM Plex Sans" pitchFamily="34" charset="-120"/>
                        </a:rPr>
                        <a:t>Choice</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6BABD"/>
                      </a:solidFill>
                      <a:prstDash val="solid"/>
                      <a:round/>
                      <a:headEnd type="none" w="med" len="med"/>
                      <a:tailEnd type="none" w="med" len="med"/>
                    </a:lnL>
                    <a:lnR w="12700" cap="flat" cmpd="sng" algn="ctr">
                      <a:solidFill>
                        <a:srgbClr val="B6BABD"/>
                      </a:solidFill>
                      <a:prstDash val="solid"/>
                      <a:round/>
                      <a:headEnd type="none" w="med" len="med"/>
                      <a:tailEnd type="none" w="med" len="med"/>
                    </a:lnR>
                    <a:lnT w="0" cap="flat" cmpd="sng" algn="ctr">
                      <a:noFill/>
                    </a:lnT>
                    <a:lnB w="12700" cap="flat" cmpd="sng" algn="ctr">
                      <a:solidFill>
                        <a:srgbClr val="B6BABD"/>
                      </a:solidFill>
                      <a:prstDash val="solid"/>
                      <a:round/>
                      <a:headEnd type="none" w="med" len="med"/>
                      <a:tailEnd type="none" w="med" len="med"/>
                    </a:lnB>
                    <a:solidFill>
                      <a:srgbClr val="E4E9ED"/>
                    </a:solidFill>
                  </a:tcPr>
                </a:tc>
                <a:tc>
                  <a:txBody>
                    <a:bodyPr/>
                    <a:lstStyle/>
                    <a:p>
                      <a:pPr indent="0" marL="0">
                        <a:lnSpc>
                          <a:spcPts val="1750"/>
                        </a:lnSpc>
                        <a:buNone/>
                      </a:pPr>
                      <a:r>
                        <a:rPr lang="en-US" sz="1250" b="1" dirty="0">
                          <a:solidFill>
                            <a:srgbClr val="101820"/>
                          </a:solidFill>
                          <a:latin typeface="IBM Plex Sans" pitchFamily="34" charset="0"/>
                          <a:ea typeface="IBM Plex Sans" pitchFamily="34" charset="-122"/>
                          <a:cs typeface="IBM Plex Sans" pitchFamily="34" charset="-120"/>
                        </a:rPr>
                        <a:t>Why this one</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6BABD"/>
                      </a:solidFill>
                      <a:prstDash val="solid"/>
                      <a:round/>
                      <a:headEnd type="none" w="med" len="med"/>
                      <a:tailEnd type="none" w="med" len="med"/>
                    </a:lnL>
                    <a:lnR w="12700" cap="flat" cmpd="sng" algn="ctr">
                      <a:solidFill>
                        <a:srgbClr val="B6BABD"/>
                      </a:solidFill>
                      <a:prstDash val="solid"/>
                      <a:round/>
                      <a:headEnd type="none" w="med" len="med"/>
                      <a:tailEnd type="none" w="med" len="med"/>
                    </a:lnR>
                    <a:lnT w="0" cap="flat" cmpd="sng" algn="ctr">
                      <a:noFill/>
                    </a:lnT>
                    <a:lnB w="12700" cap="flat" cmpd="sng" algn="ctr">
                      <a:solidFill>
                        <a:srgbClr val="B6BABD"/>
                      </a:solidFill>
                      <a:prstDash val="solid"/>
                      <a:round/>
                      <a:headEnd type="none" w="med" len="med"/>
                      <a:tailEnd type="none" w="med" len="med"/>
                    </a:lnB>
                    <a:solidFill>
                      <a:srgbClr val="E4E9ED"/>
                    </a:solidFill>
                  </a:tcPr>
                </a:tc>
              </a:tr>
              <a:tr h="346075">
                <a:tc>
                  <a:txBody>
                    <a:bodyPr/>
                    <a:lstStyle/>
                    <a:p>
                      <a:pPr indent="0" marL="0">
                        <a:lnSpc>
                          <a:spcPts val="1750"/>
                        </a:lnSpc>
                        <a:buNone/>
                      </a:pPr>
                      <a:r>
                        <a:rPr lang="en-US" sz="1250" dirty="0">
                          <a:solidFill>
                            <a:srgbClr val="4A5660"/>
                          </a:solidFill>
                          <a:latin typeface="IBM Plex Sans" pitchFamily="34" charset="0"/>
                          <a:ea typeface="IBM Plex Sans" pitchFamily="34" charset="-122"/>
                          <a:cs typeface="IBM Plex Sans" pitchFamily="34" charset="-120"/>
                        </a:rPr>
                        <a:t>Runtime</a:t>
                      </a:r>
                      <a:endParaRPr lang="en-US" sz="1250" dirty="0">
                        <a:latin typeface="IBM Plex Sans" charset="0"/>
                        <a:ea typeface="IBM Plex Sans" charset="0"/>
                        <a:cs typeface="IBM Plex Sans" charset="0"/>
                      </a:endParaRPr>
                    </a:p>
                  </a:txBody>
                  <a:tcPr marL="55563" marR="55563" marT="55563" marB="55563" anchor="t">
                    <a:lnL w="0" cap="flat" cmpd="sng" algn="ctr">
                      <a:noFill/>
                    </a:lnL>
                    <a:lnR w="12700" cap="flat" cmpd="sng" algn="ctr">
                      <a:solidFill>
                        <a:srgbClr val="C1C3C4"/>
                      </a:solidFill>
                      <a:prstDash val="solid"/>
                      <a:round/>
                      <a:headEnd type="none" w="med" len="med"/>
                      <a:tailEnd type="none" w="med" len="med"/>
                    </a:lnR>
                    <a:lnT w="12700" cap="flat" cmpd="sng" algn="ctr">
                      <a:solidFill>
                        <a:srgbClr val="B6BABD"/>
                      </a:solidFill>
                      <a:prstDash val="solid"/>
                      <a:round/>
                      <a:headEnd type="none" w="med" len="med"/>
                      <a:tailEnd type="none" w="med" len="med"/>
                    </a:lnT>
                    <a:lnB w="12700" cap="flat" cmpd="sng" algn="ctr">
                      <a:solidFill>
                        <a:srgbClr val="C1C3C4"/>
                      </a:solidFill>
                      <a:prstDash val="solid"/>
                      <a:round/>
                      <a:headEnd type="none" w="med" len="med"/>
                      <a:tailEnd type="none" w="med" len="med"/>
                    </a:lnB>
                  </a:tcPr>
                </a:tc>
                <a:tc>
                  <a:txBody>
                    <a:bodyPr/>
                    <a:lstStyle/>
                    <a:p>
                      <a:pPr indent="0" marL="0">
                        <a:lnSpc>
                          <a:spcPts val="1750"/>
                        </a:lnSpc>
                        <a:buNone/>
                      </a:pPr>
                      <a:r>
                        <a:rPr lang="en-US" sz="1250" dirty="0">
                          <a:solidFill>
                            <a:srgbClr val="101820"/>
                          </a:solidFill>
                          <a:latin typeface="IBM Plex Sans" pitchFamily="34" charset="0"/>
                          <a:ea typeface="IBM Plex Sans" pitchFamily="34" charset="-122"/>
                          <a:cs typeface="IBM Plex Sans" pitchFamily="34" charset="-120"/>
                        </a:rPr>
                        <a:t>.NET 10 (LTS), ASP.NET Core</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1C3C4"/>
                      </a:solidFill>
                      <a:prstDash val="solid"/>
                      <a:round/>
                      <a:headEnd type="none" w="med" len="med"/>
                      <a:tailEnd type="none" w="med" len="med"/>
                    </a:lnL>
                    <a:lnR w="12700" cap="flat" cmpd="sng" algn="ctr">
                      <a:solidFill>
                        <a:srgbClr val="C1C3C4"/>
                      </a:solidFill>
                      <a:prstDash val="solid"/>
                      <a:round/>
                      <a:headEnd type="none" w="med" len="med"/>
                      <a:tailEnd type="none" w="med" len="med"/>
                    </a:lnR>
                    <a:lnT w="12700" cap="flat" cmpd="sng" algn="ctr">
                      <a:solidFill>
                        <a:srgbClr val="B6BABD"/>
                      </a:solidFill>
                      <a:prstDash val="solid"/>
                      <a:round/>
                      <a:headEnd type="none" w="med" len="med"/>
                      <a:tailEnd type="none" w="med" len="med"/>
                    </a:lnT>
                    <a:lnB w="12700" cap="flat" cmpd="sng" algn="ctr">
                      <a:solidFill>
                        <a:srgbClr val="C1C3C4"/>
                      </a:solidFill>
                      <a:prstDash val="solid"/>
                      <a:round/>
                      <a:headEnd type="none" w="med" len="med"/>
                      <a:tailEnd type="none" w="med" len="med"/>
                    </a:lnB>
                  </a:tcPr>
                </a:tc>
                <a:tc>
                  <a:txBody>
                    <a:bodyPr/>
                    <a:lstStyle/>
                    <a:p>
                      <a:pPr indent="0" marL="0">
                        <a:lnSpc>
                          <a:spcPts val="1750"/>
                        </a:lnSpc>
                        <a:buNone/>
                      </a:pPr>
                      <a:r>
                        <a:rPr lang="en-US" sz="1250" dirty="0">
                          <a:solidFill>
                            <a:srgbClr val="101820"/>
                          </a:solidFill>
                          <a:latin typeface="IBM Plex Sans" pitchFamily="34" charset="0"/>
                          <a:ea typeface="IBM Plex Sans" pitchFamily="34" charset="-122"/>
                          <a:cs typeface="IBM Plex Sans" pitchFamily="34" charset="-120"/>
                        </a:rPr>
                        <a:t>Supported into 2028</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1C3C4"/>
                      </a:solidFill>
                      <a:prstDash val="solid"/>
                      <a:round/>
                      <a:headEnd type="none" w="med" len="med"/>
                      <a:tailEnd type="none" w="med" len="med"/>
                    </a:lnL>
                    <a:lnR w="12700" cap="flat" cmpd="sng" algn="ctr">
                      <a:solidFill>
                        <a:srgbClr val="C1C3C4"/>
                      </a:solidFill>
                      <a:prstDash val="solid"/>
                      <a:round/>
                      <a:headEnd type="none" w="med" len="med"/>
                      <a:tailEnd type="none" w="med" len="med"/>
                    </a:lnR>
                    <a:lnT w="12700" cap="flat" cmpd="sng" algn="ctr">
                      <a:solidFill>
                        <a:srgbClr val="B6BABD"/>
                      </a:solidFill>
                      <a:prstDash val="solid"/>
                      <a:round/>
                      <a:headEnd type="none" w="med" len="med"/>
                      <a:tailEnd type="none" w="med" len="med"/>
                    </a:lnT>
                    <a:lnB w="12700" cap="flat" cmpd="sng" algn="ctr">
                      <a:solidFill>
                        <a:srgbClr val="C1C3C4"/>
                      </a:solidFill>
                      <a:prstDash val="solid"/>
                      <a:round/>
                      <a:headEnd type="none" w="med" len="med"/>
                      <a:tailEnd type="none" w="med" len="med"/>
                    </a:lnB>
                  </a:tcPr>
                </a:tc>
              </a:tr>
              <a:tr h="346075">
                <a:tc>
                  <a:txBody>
                    <a:bodyPr/>
                    <a:lstStyle/>
                    <a:p>
                      <a:pPr indent="0" marL="0">
                        <a:lnSpc>
                          <a:spcPts val="1750"/>
                        </a:lnSpc>
                        <a:buNone/>
                      </a:pPr>
                      <a:r>
                        <a:rPr lang="en-US" sz="1250" dirty="0">
                          <a:solidFill>
                            <a:srgbClr val="4A5660"/>
                          </a:solidFill>
                          <a:latin typeface="IBM Plex Sans" pitchFamily="34" charset="0"/>
                          <a:ea typeface="IBM Plex Sans" pitchFamily="34" charset="-122"/>
                          <a:cs typeface="IBM Plex Sans" pitchFamily="34" charset="-120"/>
                        </a:rPr>
                        <a:t>Config &amp; metadata</a:t>
                      </a:r>
                      <a:endParaRPr lang="en-US" sz="1250" dirty="0">
                        <a:latin typeface="IBM Plex Sans" charset="0"/>
                        <a:ea typeface="IBM Plex Sans" charset="0"/>
                        <a:cs typeface="IBM Plex Sans" charset="0"/>
                      </a:endParaRPr>
                    </a:p>
                  </a:txBody>
                  <a:tcPr marL="55563" marR="55563" marT="55563" marB="55563" anchor="t">
                    <a:lnL w="0" cap="flat" cmpd="sng" algn="ctr">
                      <a:noFill/>
                    </a:lnL>
                    <a:lnR w="12700" cap="flat" cmpd="sng" algn="ctr">
                      <a:solidFill>
                        <a:srgbClr val="BABDBF"/>
                      </a:solidFill>
                      <a:prstDash val="solid"/>
                      <a:round/>
                      <a:headEnd type="none" w="med" len="med"/>
                      <a:tailEnd type="none" w="med" len="med"/>
                    </a:lnR>
                    <a:lnT w="12700" cap="flat" cmpd="sng" algn="ctr">
                      <a:solidFill>
                        <a:srgbClr val="C1C3C4"/>
                      </a:solidFill>
                      <a:prstDash val="solid"/>
                      <a:round/>
                      <a:headEnd type="none" w="med" len="med"/>
                      <a:tailEnd type="none" w="med" len="med"/>
                    </a:lnT>
                    <a:lnB w="12700" cap="flat" cmpd="sng" algn="ctr">
                      <a:solidFill>
                        <a:srgbClr val="BABDBF"/>
                      </a:solidFill>
                      <a:prstDash val="solid"/>
                      <a:round/>
                      <a:headEnd type="none" w="med" len="med"/>
                      <a:tailEnd type="none" w="med" len="med"/>
                    </a:lnB>
                    <a:solidFill>
                      <a:srgbClr val="E9EDF0"/>
                    </a:solidFill>
                  </a:tcPr>
                </a:tc>
                <a:tc>
                  <a:txBody>
                    <a:bodyPr/>
                    <a:lstStyle/>
                    <a:p>
                      <a:pPr indent="0" marL="0">
                        <a:lnSpc>
                          <a:spcPts val="1750"/>
                        </a:lnSpc>
                        <a:buNone/>
                      </a:pPr>
                      <a:r>
                        <a:rPr lang="en-US" sz="1250" dirty="0">
                          <a:solidFill>
                            <a:srgbClr val="101820"/>
                          </a:solidFill>
                          <a:latin typeface="IBM Plex Sans" pitchFamily="34" charset="0"/>
                          <a:ea typeface="IBM Plex Sans" pitchFamily="34" charset="-122"/>
                          <a:cs typeface="IBM Plex Sans" pitchFamily="34" charset="-120"/>
                        </a:rPr>
                        <a:t>EF Core 10 + migrations</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ABDBF"/>
                      </a:solidFill>
                      <a:prstDash val="solid"/>
                      <a:round/>
                      <a:headEnd type="none" w="med" len="med"/>
                      <a:tailEnd type="none" w="med" len="med"/>
                    </a:lnL>
                    <a:lnR w="12700" cap="flat" cmpd="sng" algn="ctr">
                      <a:solidFill>
                        <a:srgbClr val="BABDBF"/>
                      </a:solidFill>
                      <a:prstDash val="solid"/>
                      <a:round/>
                      <a:headEnd type="none" w="med" len="med"/>
                      <a:tailEnd type="none" w="med" len="med"/>
                    </a:lnR>
                    <a:lnT w="12700" cap="flat" cmpd="sng" algn="ctr">
                      <a:solidFill>
                        <a:srgbClr val="C1C3C4"/>
                      </a:solidFill>
                      <a:prstDash val="solid"/>
                      <a:round/>
                      <a:headEnd type="none" w="med" len="med"/>
                      <a:tailEnd type="none" w="med" len="med"/>
                    </a:lnT>
                    <a:lnB w="12700" cap="flat" cmpd="sng" algn="ctr">
                      <a:solidFill>
                        <a:srgbClr val="BABDBF"/>
                      </a:solidFill>
                      <a:prstDash val="solid"/>
                      <a:round/>
                      <a:headEnd type="none" w="med" len="med"/>
                      <a:tailEnd type="none" w="med" len="med"/>
                    </a:lnB>
                    <a:solidFill>
                      <a:srgbClr val="E9EDF0"/>
                    </a:solidFill>
                  </a:tcPr>
                </a:tc>
                <a:tc>
                  <a:txBody>
                    <a:bodyPr/>
                    <a:lstStyle/>
                    <a:p>
                      <a:pPr indent="0" marL="0">
                        <a:lnSpc>
                          <a:spcPts val="1750"/>
                        </a:lnSpc>
                        <a:buNone/>
                      </a:pPr>
                      <a:r>
                        <a:rPr lang="en-US" sz="1250" dirty="0">
                          <a:solidFill>
                            <a:srgbClr val="101820"/>
                          </a:solidFill>
                          <a:latin typeface="IBM Plex Sans" pitchFamily="34" charset="0"/>
                          <a:ea typeface="IBM Plex Sans" pitchFamily="34" charset="-122"/>
                          <a:cs typeface="IBM Plex Sans" pitchFamily="34" charset="-120"/>
                        </a:rPr>
                        <a:t>Migrations where the schema actually changes</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ABDBF"/>
                      </a:solidFill>
                      <a:prstDash val="solid"/>
                      <a:round/>
                      <a:headEnd type="none" w="med" len="med"/>
                      <a:tailEnd type="none" w="med" len="med"/>
                    </a:lnL>
                    <a:lnR w="12700" cap="flat" cmpd="sng" algn="ctr">
                      <a:solidFill>
                        <a:srgbClr val="BABDBF"/>
                      </a:solidFill>
                      <a:prstDash val="solid"/>
                      <a:round/>
                      <a:headEnd type="none" w="med" len="med"/>
                      <a:tailEnd type="none" w="med" len="med"/>
                    </a:lnR>
                    <a:lnT w="12700" cap="flat" cmpd="sng" algn="ctr">
                      <a:solidFill>
                        <a:srgbClr val="C1C3C4"/>
                      </a:solidFill>
                      <a:prstDash val="solid"/>
                      <a:round/>
                      <a:headEnd type="none" w="med" len="med"/>
                      <a:tailEnd type="none" w="med" len="med"/>
                    </a:lnT>
                    <a:lnB w="12700" cap="flat" cmpd="sng" algn="ctr">
                      <a:solidFill>
                        <a:srgbClr val="BABDBF"/>
                      </a:solidFill>
                      <a:prstDash val="solid"/>
                      <a:round/>
                      <a:headEnd type="none" w="med" len="med"/>
                      <a:tailEnd type="none" w="med" len="med"/>
                    </a:lnB>
                    <a:solidFill>
                      <a:srgbClr val="E9EDF0"/>
                    </a:solidFill>
                  </a:tcPr>
                </a:tc>
              </a:tr>
              <a:tr h="346075">
                <a:tc>
                  <a:txBody>
                    <a:bodyPr/>
                    <a:lstStyle/>
                    <a:p>
                      <a:pPr indent="0" marL="0">
                        <a:lnSpc>
                          <a:spcPts val="1750"/>
                        </a:lnSpc>
                        <a:buNone/>
                      </a:pPr>
                      <a:r>
                        <a:rPr lang="en-US" sz="1250" dirty="0">
                          <a:solidFill>
                            <a:srgbClr val="4A5660"/>
                          </a:solidFill>
                          <a:latin typeface="IBM Plex Sans" pitchFamily="34" charset="0"/>
                          <a:ea typeface="IBM Plex Sans" pitchFamily="34" charset="-122"/>
                          <a:cs typeface="IBM Plex Sans" pitchFamily="34" charset="-120"/>
                        </a:rPr>
                        <a:t>Bulk staging load</a:t>
                      </a:r>
                      <a:endParaRPr lang="en-US" sz="1250" dirty="0">
                        <a:latin typeface="IBM Plex Sans" charset="0"/>
                        <a:ea typeface="IBM Plex Sans" charset="0"/>
                        <a:cs typeface="IBM Plex Sans" charset="0"/>
                      </a:endParaRPr>
                    </a:p>
                  </a:txBody>
                  <a:tcPr marL="55563" marR="55563" marT="55563" marB="55563" anchor="t">
                    <a:lnL w="0" cap="flat" cmpd="sng" algn="ctr">
                      <a:noFill/>
                    </a:lnL>
                    <a:lnR w="12700" cap="flat" cmpd="sng" algn="ctr">
                      <a:solidFill>
                        <a:srgbClr val="C1C3C4"/>
                      </a:solidFill>
                      <a:prstDash val="solid"/>
                      <a:round/>
                      <a:headEnd type="none" w="med" len="med"/>
                      <a:tailEnd type="none" w="med" len="med"/>
                    </a:lnR>
                    <a:lnT w="12700" cap="flat" cmpd="sng" algn="ctr">
                      <a:solidFill>
                        <a:srgbClr val="BABDBF"/>
                      </a:solidFill>
                      <a:prstDash val="solid"/>
                      <a:round/>
                      <a:headEnd type="none" w="med" len="med"/>
                      <a:tailEnd type="none" w="med" len="med"/>
                    </a:lnT>
                    <a:lnB w="12700" cap="flat" cmpd="sng" algn="ctr">
                      <a:solidFill>
                        <a:srgbClr val="C1C3C4"/>
                      </a:solidFill>
                      <a:prstDash val="solid"/>
                      <a:round/>
                      <a:headEnd type="none" w="med" len="med"/>
                      <a:tailEnd type="none" w="med" len="med"/>
                    </a:lnB>
                  </a:tcPr>
                </a:tc>
                <a:tc>
                  <a:txBody>
                    <a:bodyPr/>
                    <a:lstStyle/>
                    <a:p>
                      <a:pPr indent="0" marL="0">
                        <a:lnSpc>
                          <a:spcPts val="1750"/>
                        </a:lnSpc>
                        <a:buNone/>
                      </a:pPr>
                      <a:r>
                        <a:rPr lang="en-US" sz="1250" dirty="0">
                          <a:solidFill>
                            <a:srgbClr val="101820"/>
                          </a:solidFill>
                          <a:latin typeface="IBM Plex Sans" pitchFamily="34" charset="0"/>
                          <a:ea typeface="IBM Plex Sans" pitchFamily="34" charset="-122"/>
                          <a:cs typeface="IBM Plex Sans" pitchFamily="34" charset="-120"/>
                        </a:rPr>
                        <a:t>SqlBulkCopy</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1C3C4"/>
                      </a:solidFill>
                      <a:prstDash val="solid"/>
                      <a:round/>
                      <a:headEnd type="none" w="med" len="med"/>
                      <a:tailEnd type="none" w="med" len="med"/>
                    </a:lnL>
                    <a:lnR w="12700" cap="flat" cmpd="sng" algn="ctr">
                      <a:solidFill>
                        <a:srgbClr val="C1C3C4"/>
                      </a:solidFill>
                      <a:prstDash val="solid"/>
                      <a:round/>
                      <a:headEnd type="none" w="med" len="med"/>
                      <a:tailEnd type="none" w="med" len="med"/>
                    </a:lnR>
                    <a:lnT w="12700" cap="flat" cmpd="sng" algn="ctr">
                      <a:solidFill>
                        <a:srgbClr val="BABDBF"/>
                      </a:solidFill>
                      <a:prstDash val="solid"/>
                      <a:round/>
                      <a:headEnd type="none" w="med" len="med"/>
                      <a:tailEnd type="none" w="med" len="med"/>
                    </a:lnT>
                    <a:lnB w="12700" cap="flat" cmpd="sng" algn="ctr">
                      <a:solidFill>
                        <a:srgbClr val="C1C3C4"/>
                      </a:solidFill>
                      <a:prstDash val="solid"/>
                      <a:round/>
                      <a:headEnd type="none" w="med" len="med"/>
                      <a:tailEnd type="none" w="med" len="med"/>
                    </a:lnB>
                  </a:tcPr>
                </a:tc>
                <a:tc>
                  <a:txBody>
                    <a:bodyPr/>
                    <a:lstStyle/>
                    <a:p>
                      <a:pPr indent="0" marL="0">
                        <a:lnSpc>
                          <a:spcPts val="1750"/>
                        </a:lnSpc>
                        <a:buNone/>
                      </a:pPr>
                      <a:r>
                        <a:rPr lang="en-US" sz="1250" dirty="0">
                          <a:solidFill>
                            <a:srgbClr val="101820"/>
                          </a:solidFill>
                          <a:latin typeface="IBM Plex Sans" pitchFamily="34" charset="0"/>
                          <a:ea typeface="IBM Plex Sans" pitchFamily="34" charset="-122"/>
                          <a:cs typeface="IBM Plex Sans" pitchFamily="34" charset="-120"/>
                        </a:rPr>
                        <a:t>17,770 rows in one operation, not 17,770</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1C3C4"/>
                      </a:solidFill>
                      <a:prstDash val="solid"/>
                      <a:round/>
                      <a:headEnd type="none" w="med" len="med"/>
                      <a:tailEnd type="none" w="med" len="med"/>
                    </a:lnL>
                    <a:lnR w="12700" cap="flat" cmpd="sng" algn="ctr">
                      <a:solidFill>
                        <a:srgbClr val="C1C3C4"/>
                      </a:solidFill>
                      <a:prstDash val="solid"/>
                      <a:round/>
                      <a:headEnd type="none" w="med" len="med"/>
                      <a:tailEnd type="none" w="med" len="med"/>
                    </a:lnR>
                    <a:lnT w="12700" cap="flat" cmpd="sng" algn="ctr">
                      <a:solidFill>
                        <a:srgbClr val="BABDBF"/>
                      </a:solidFill>
                      <a:prstDash val="solid"/>
                      <a:round/>
                      <a:headEnd type="none" w="med" len="med"/>
                      <a:tailEnd type="none" w="med" len="med"/>
                    </a:lnT>
                    <a:lnB w="12700" cap="flat" cmpd="sng" algn="ctr">
                      <a:solidFill>
                        <a:srgbClr val="C1C3C4"/>
                      </a:solidFill>
                      <a:prstDash val="solid"/>
                      <a:round/>
                      <a:headEnd type="none" w="med" len="med"/>
                      <a:tailEnd type="none" w="med" len="med"/>
                    </a:lnB>
                  </a:tcPr>
                </a:tc>
              </a:tr>
              <a:tr h="346075">
                <a:tc>
                  <a:txBody>
                    <a:bodyPr/>
                    <a:lstStyle/>
                    <a:p>
                      <a:pPr indent="0" marL="0">
                        <a:lnSpc>
                          <a:spcPts val="1750"/>
                        </a:lnSpc>
                        <a:buNone/>
                      </a:pPr>
                      <a:r>
                        <a:rPr lang="en-US" sz="1250" dirty="0">
                          <a:solidFill>
                            <a:srgbClr val="4A5660"/>
                          </a:solidFill>
                          <a:latin typeface="IBM Plex Sans" pitchFamily="34" charset="0"/>
                          <a:ea typeface="IBM Plex Sans" pitchFamily="34" charset="-122"/>
                          <a:cs typeface="IBM Plex Sans" pitchFamily="34" charset="-120"/>
                        </a:rPr>
                        <a:t>Upsert, hot reads</a:t>
                      </a:r>
                      <a:endParaRPr lang="en-US" sz="1250" dirty="0">
                        <a:latin typeface="IBM Plex Sans" charset="0"/>
                        <a:ea typeface="IBM Plex Sans" charset="0"/>
                        <a:cs typeface="IBM Plex Sans" charset="0"/>
                      </a:endParaRPr>
                    </a:p>
                  </a:txBody>
                  <a:tcPr marL="55563" marR="55563" marT="55563" marB="55563" anchor="t">
                    <a:lnL w="0" cap="flat" cmpd="sng" algn="ctr">
                      <a:noFill/>
                    </a:lnL>
                    <a:lnR w="12700" cap="flat" cmpd="sng" algn="ctr">
                      <a:solidFill>
                        <a:srgbClr val="BABDBF"/>
                      </a:solidFill>
                      <a:prstDash val="solid"/>
                      <a:round/>
                      <a:headEnd type="none" w="med" len="med"/>
                      <a:tailEnd type="none" w="med" len="med"/>
                    </a:lnR>
                    <a:lnT w="12700" cap="flat" cmpd="sng" algn="ctr">
                      <a:solidFill>
                        <a:srgbClr val="C1C3C4"/>
                      </a:solidFill>
                      <a:prstDash val="solid"/>
                      <a:round/>
                      <a:headEnd type="none" w="med" len="med"/>
                      <a:tailEnd type="none" w="med" len="med"/>
                    </a:lnT>
                    <a:lnB w="12700" cap="flat" cmpd="sng" algn="ctr">
                      <a:solidFill>
                        <a:srgbClr val="BABDBF"/>
                      </a:solidFill>
                      <a:prstDash val="solid"/>
                      <a:round/>
                      <a:headEnd type="none" w="med" len="med"/>
                      <a:tailEnd type="none" w="med" len="med"/>
                    </a:lnB>
                    <a:solidFill>
                      <a:srgbClr val="E9EDF0"/>
                    </a:solidFill>
                  </a:tcPr>
                </a:tc>
                <a:tc>
                  <a:txBody>
                    <a:bodyPr/>
                    <a:lstStyle/>
                    <a:p>
                      <a:pPr indent="0" marL="0">
                        <a:lnSpc>
                          <a:spcPts val="1750"/>
                        </a:lnSpc>
                        <a:buNone/>
                      </a:pPr>
                      <a:r>
                        <a:rPr lang="en-US" sz="1250" dirty="0">
                          <a:solidFill>
                            <a:srgbClr val="101820"/>
                          </a:solidFill>
                          <a:latin typeface="IBM Plex Sans" pitchFamily="34" charset="0"/>
                          <a:ea typeface="IBM Plex Sans" pitchFamily="34" charset="-122"/>
                          <a:cs typeface="IBM Plex Sans" pitchFamily="34" charset="-120"/>
                        </a:rPr>
                        <a:t>Dapper + MERGE</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ABDBF"/>
                      </a:solidFill>
                      <a:prstDash val="solid"/>
                      <a:round/>
                      <a:headEnd type="none" w="med" len="med"/>
                      <a:tailEnd type="none" w="med" len="med"/>
                    </a:lnL>
                    <a:lnR w="12700" cap="flat" cmpd="sng" algn="ctr">
                      <a:solidFill>
                        <a:srgbClr val="BABDBF"/>
                      </a:solidFill>
                      <a:prstDash val="solid"/>
                      <a:round/>
                      <a:headEnd type="none" w="med" len="med"/>
                      <a:tailEnd type="none" w="med" len="med"/>
                    </a:lnR>
                    <a:lnT w="12700" cap="flat" cmpd="sng" algn="ctr">
                      <a:solidFill>
                        <a:srgbClr val="C1C3C4"/>
                      </a:solidFill>
                      <a:prstDash val="solid"/>
                      <a:round/>
                      <a:headEnd type="none" w="med" len="med"/>
                      <a:tailEnd type="none" w="med" len="med"/>
                    </a:lnT>
                    <a:lnB w="12700" cap="flat" cmpd="sng" algn="ctr">
                      <a:solidFill>
                        <a:srgbClr val="BABDBF"/>
                      </a:solidFill>
                      <a:prstDash val="solid"/>
                      <a:round/>
                      <a:headEnd type="none" w="med" len="med"/>
                      <a:tailEnd type="none" w="med" len="med"/>
                    </a:lnB>
                    <a:solidFill>
                      <a:srgbClr val="E9EDF0"/>
                    </a:solidFill>
                  </a:tcPr>
                </a:tc>
                <a:tc>
                  <a:txBody>
                    <a:bodyPr/>
                    <a:lstStyle/>
                    <a:p>
                      <a:pPr indent="0" marL="0">
                        <a:lnSpc>
                          <a:spcPts val="1750"/>
                        </a:lnSpc>
                        <a:buNone/>
                      </a:pPr>
                      <a:r>
                        <a:rPr lang="en-US" sz="1250" dirty="0">
                          <a:solidFill>
                            <a:srgbClr val="101820"/>
                          </a:solidFill>
                          <a:latin typeface="IBM Plex Sans" pitchFamily="34" charset="0"/>
                          <a:ea typeface="IBM Plex Sans" pitchFamily="34" charset="-122"/>
                          <a:cs typeface="IBM Plex Sans" pitchFamily="34" charset="-120"/>
                        </a:rPr>
                        <a:t>EF cannot express a bulk upsert</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ABDBF"/>
                      </a:solidFill>
                      <a:prstDash val="solid"/>
                      <a:round/>
                      <a:headEnd type="none" w="med" len="med"/>
                      <a:tailEnd type="none" w="med" len="med"/>
                    </a:lnL>
                    <a:lnR w="12700" cap="flat" cmpd="sng" algn="ctr">
                      <a:solidFill>
                        <a:srgbClr val="BABDBF"/>
                      </a:solidFill>
                      <a:prstDash val="solid"/>
                      <a:round/>
                      <a:headEnd type="none" w="med" len="med"/>
                      <a:tailEnd type="none" w="med" len="med"/>
                    </a:lnR>
                    <a:lnT w="12700" cap="flat" cmpd="sng" algn="ctr">
                      <a:solidFill>
                        <a:srgbClr val="C1C3C4"/>
                      </a:solidFill>
                      <a:prstDash val="solid"/>
                      <a:round/>
                      <a:headEnd type="none" w="med" len="med"/>
                      <a:tailEnd type="none" w="med" len="med"/>
                    </a:lnT>
                    <a:lnB w="12700" cap="flat" cmpd="sng" algn="ctr">
                      <a:solidFill>
                        <a:srgbClr val="BABDBF"/>
                      </a:solidFill>
                      <a:prstDash val="solid"/>
                      <a:round/>
                      <a:headEnd type="none" w="med" len="med"/>
                      <a:tailEnd type="none" w="med" len="med"/>
                    </a:lnB>
                    <a:solidFill>
                      <a:srgbClr val="E9EDF0"/>
                    </a:solidFill>
                  </a:tcPr>
                </a:tc>
              </a:tr>
              <a:tr h="346075">
                <a:tc>
                  <a:txBody>
                    <a:bodyPr/>
                    <a:lstStyle/>
                    <a:p>
                      <a:pPr indent="0" marL="0">
                        <a:lnSpc>
                          <a:spcPts val="1750"/>
                        </a:lnSpc>
                        <a:buNone/>
                      </a:pPr>
                      <a:r>
                        <a:rPr lang="en-US" sz="1250" dirty="0">
                          <a:solidFill>
                            <a:srgbClr val="4A5660"/>
                          </a:solidFill>
                          <a:latin typeface="IBM Plex Sans" pitchFamily="34" charset="0"/>
                          <a:ea typeface="IBM Plex Sans" pitchFamily="34" charset="-122"/>
                          <a:cs typeface="IBM Plex Sans" pitchFamily="34" charset="-120"/>
                        </a:rPr>
                        <a:t>Resilience</a:t>
                      </a:r>
                      <a:endParaRPr lang="en-US" sz="1250" dirty="0">
                        <a:latin typeface="IBM Plex Sans" charset="0"/>
                        <a:ea typeface="IBM Plex Sans" charset="0"/>
                        <a:cs typeface="IBM Plex Sans" charset="0"/>
                      </a:endParaRPr>
                    </a:p>
                  </a:txBody>
                  <a:tcPr marL="55563" marR="55563" marT="55563" marB="55563" anchor="t">
                    <a:lnL w="0" cap="flat" cmpd="sng" algn="ctr">
                      <a:noFill/>
                    </a:lnL>
                    <a:lnR w="12700" cap="flat" cmpd="sng" algn="ctr">
                      <a:solidFill>
                        <a:srgbClr val="C1C3C4"/>
                      </a:solidFill>
                      <a:prstDash val="solid"/>
                      <a:round/>
                      <a:headEnd type="none" w="med" len="med"/>
                      <a:tailEnd type="none" w="med" len="med"/>
                    </a:lnR>
                    <a:lnT w="12700" cap="flat" cmpd="sng" algn="ctr">
                      <a:solidFill>
                        <a:srgbClr val="BABDBF"/>
                      </a:solidFill>
                      <a:prstDash val="solid"/>
                      <a:round/>
                      <a:headEnd type="none" w="med" len="med"/>
                      <a:tailEnd type="none" w="med" len="med"/>
                    </a:lnT>
                    <a:lnB w="12700" cap="flat" cmpd="sng" algn="ctr">
                      <a:solidFill>
                        <a:srgbClr val="C1C3C4"/>
                      </a:solidFill>
                      <a:prstDash val="solid"/>
                      <a:round/>
                      <a:headEnd type="none" w="med" len="med"/>
                      <a:tailEnd type="none" w="med" len="med"/>
                    </a:lnB>
                  </a:tcPr>
                </a:tc>
                <a:tc>
                  <a:txBody>
                    <a:bodyPr/>
                    <a:lstStyle/>
                    <a:p>
                      <a:pPr indent="0" marL="0">
                        <a:lnSpc>
                          <a:spcPts val="1750"/>
                        </a:lnSpc>
                        <a:buNone/>
                      </a:pPr>
                      <a:r>
                        <a:rPr lang="en-US" sz="1250" dirty="0">
                          <a:solidFill>
                            <a:srgbClr val="101820"/>
                          </a:solidFill>
                          <a:latin typeface="IBM Plex Sans" pitchFamily="34" charset="0"/>
                          <a:ea typeface="IBM Plex Sans" pitchFamily="34" charset="-122"/>
                          <a:cs typeface="IBM Plex Sans" pitchFamily="34" charset="-120"/>
                        </a:rPr>
                        <a:t>Polly v8 via Http.Resilience</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1C3C4"/>
                      </a:solidFill>
                      <a:prstDash val="solid"/>
                      <a:round/>
                      <a:headEnd type="none" w="med" len="med"/>
                      <a:tailEnd type="none" w="med" len="med"/>
                    </a:lnL>
                    <a:lnR w="12700" cap="flat" cmpd="sng" algn="ctr">
                      <a:solidFill>
                        <a:srgbClr val="C1C3C4"/>
                      </a:solidFill>
                      <a:prstDash val="solid"/>
                      <a:round/>
                      <a:headEnd type="none" w="med" len="med"/>
                      <a:tailEnd type="none" w="med" len="med"/>
                    </a:lnR>
                    <a:lnT w="12700" cap="flat" cmpd="sng" algn="ctr">
                      <a:solidFill>
                        <a:srgbClr val="BABDBF"/>
                      </a:solidFill>
                      <a:prstDash val="solid"/>
                      <a:round/>
                      <a:headEnd type="none" w="med" len="med"/>
                      <a:tailEnd type="none" w="med" len="med"/>
                    </a:lnT>
                    <a:lnB w="12700" cap="flat" cmpd="sng" algn="ctr">
                      <a:solidFill>
                        <a:srgbClr val="C1C3C4"/>
                      </a:solidFill>
                      <a:prstDash val="solid"/>
                      <a:round/>
                      <a:headEnd type="none" w="med" len="med"/>
                      <a:tailEnd type="none" w="med" len="med"/>
                    </a:lnB>
                  </a:tcPr>
                </a:tc>
                <a:tc>
                  <a:txBody>
                    <a:bodyPr/>
                    <a:lstStyle/>
                    <a:p>
                      <a:pPr indent="0" marL="0">
                        <a:lnSpc>
                          <a:spcPts val="1750"/>
                        </a:lnSpc>
                        <a:buNone/>
                      </a:pPr>
                      <a:r>
                        <a:rPr lang="en-US" sz="1250" dirty="0">
                          <a:solidFill>
                            <a:srgbClr val="101820"/>
                          </a:solidFill>
                          <a:latin typeface="IBM Plex Sans" pitchFamily="34" charset="0"/>
                          <a:ea typeface="IBM Plex Sans" pitchFamily="34" charset="-122"/>
                          <a:cs typeface="IBM Plex Sans" pitchFamily="34" charset="-120"/>
                        </a:rPr>
                        <a:t>Retry, circuit breaker, timeout</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1C3C4"/>
                      </a:solidFill>
                      <a:prstDash val="solid"/>
                      <a:round/>
                      <a:headEnd type="none" w="med" len="med"/>
                      <a:tailEnd type="none" w="med" len="med"/>
                    </a:lnL>
                    <a:lnR w="12700" cap="flat" cmpd="sng" algn="ctr">
                      <a:solidFill>
                        <a:srgbClr val="C1C3C4"/>
                      </a:solidFill>
                      <a:prstDash val="solid"/>
                      <a:round/>
                      <a:headEnd type="none" w="med" len="med"/>
                      <a:tailEnd type="none" w="med" len="med"/>
                    </a:lnR>
                    <a:lnT w="12700" cap="flat" cmpd="sng" algn="ctr">
                      <a:solidFill>
                        <a:srgbClr val="BABDBF"/>
                      </a:solidFill>
                      <a:prstDash val="solid"/>
                      <a:round/>
                      <a:headEnd type="none" w="med" len="med"/>
                      <a:tailEnd type="none" w="med" len="med"/>
                    </a:lnT>
                    <a:lnB w="12700" cap="flat" cmpd="sng" algn="ctr">
                      <a:solidFill>
                        <a:srgbClr val="C1C3C4"/>
                      </a:solidFill>
                      <a:prstDash val="solid"/>
                      <a:round/>
                      <a:headEnd type="none" w="med" len="med"/>
                      <a:tailEnd type="none" w="med" len="med"/>
                    </a:lnB>
                  </a:tcPr>
                </a:tc>
              </a:tr>
              <a:tr h="346075">
                <a:tc>
                  <a:txBody>
                    <a:bodyPr/>
                    <a:lstStyle/>
                    <a:p>
                      <a:pPr indent="0" marL="0">
                        <a:lnSpc>
                          <a:spcPts val="1750"/>
                        </a:lnSpc>
                        <a:buNone/>
                      </a:pPr>
                      <a:r>
                        <a:rPr lang="en-US" sz="1250" dirty="0">
                          <a:solidFill>
                            <a:srgbClr val="4A5660"/>
                          </a:solidFill>
                          <a:latin typeface="IBM Plex Sans" pitchFamily="34" charset="0"/>
                          <a:ea typeface="IBM Plex Sans" pitchFamily="34" charset="-122"/>
                          <a:cs typeface="IBM Plex Sans" pitchFamily="34" charset="-120"/>
                        </a:rPr>
                        <a:t>Telemetry</a:t>
                      </a:r>
                      <a:endParaRPr lang="en-US" sz="1250" dirty="0">
                        <a:latin typeface="IBM Plex Sans" charset="0"/>
                        <a:ea typeface="IBM Plex Sans" charset="0"/>
                        <a:cs typeface="IBM Plex Sans" charset="0"/>
                      </a:endParaRPr>
                    </a:p>
                  </a:txBody>
                  <a:tcPr marL="55563" marR="55563" marT="55563" marB="55563" anchor="t">
                    <a:lnL w="0" cap="flat" cmpd="sng" algn="ctr">
                      <a:noFill/>
                    </a:lnL>
                    <a:lnR w="12700" cap="flat" cmpd="sng" algn="ctr">
                      <a:solidFill>
                        <a:srgbClr val="BABDBF"/>
                      </a:solidFill>
                      <a:prstDash val="solid"/>
                      <a:round/>
                      <a:headEnd type="none" w="med" len="med"/>
                      <a:tailEnd type="none" w="med" len="med"/>
                    </a:lnR>
                    <a:lnT w="12700" cap="flat" cmpd="sng" algn="ctr">
                      <a:solidFill>
                        <a:srgbClr val="C1C3C4"/>
                      </a:solidFill>
                      <a:prstDash val="solid"/>
                      <a:round/>
                      <a:headEnd type="none" w="med" len="med"/>
                      <a:tailEnd type="none" w="med" len="med"/>
                    </a:lnT>
                    <a:lnB w="12700" cap="flat" cmpd="sng" algn="ctr">
                      <a:solidFill>
                        <a:srgbClr val="BABDBF"/>
                      </a:solidFill>
                      <a:prstDash val="solid"/>
                      <a:round/>
                      <a:headEnd type="none" w="med" len="med"/>
                      <a:tailEnd type="none" w="med" len="med"/>
                    </a:lnB>
                    <a:solidFill>
                      <a:srgbClr val="E9EDF0"/>
                    </a:solidFill>
                  </a:tcPr>
                </a:tc>
                <a:tc>
                  <a:txBody>
                    <a:bodyPr/>
                    <a:lstStyle/>
                    <a:p>
                      <a:pPr indent="0" marL="0">
                        <a:lnSpc>
                          <a:spcPts val="1750"/>
                        </a:lnSpc>
                        <a:buNone/>
                      </a:pPr>
                      <a:r>
                        <a:rPr lang="en-US" sz="1250" dirty="0">
                          <a:solidFill>
                            <a:srgbClr val="101820"/>
                          </a:solidFill>
                          <a:latin typeface="IBM Plex Sans" pitchFamily="34" charset="0"/>
                          <a:ea typeface="IBM Plex Sans" pitchFamily="34" charset="-122"/>
                          <a:cs typeface="IBM Plex Sans" pitchFamily="34" charset="-120"/>
                        </a:rPr>
                        <a:t>OpenTelemetry</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ABDBF"/>
                      </a:solidFill>
                      <a:prstDash val="solid"/>
                      <a:round/>
                      <a:headEnd type="none" w="med" len="med"/>
                      <a:tailEnd type="none" w="med" len="med"/>
                    </a:lnL>
                    <a:lnR w="12700" cap="flat" cmpd="sng" algn="ctr">
                      <a:solidFill>
                        <a:srgbClr val="BABDBF"/>
                      </a:solidFill>
                      <a:prstDash val="solid"/>
                      <a:round/>
                      <a:headEnd type="none" w="med" len="med"/>
                      <a:tailEnd type="none" w="med" len="med"/>
                    </a:lnR>
                    <a:lnT w="12700" cap="flat" cmpd="sng" algn="ctr">
                      <a:solidFill>
                        <a:srgbClr val="C1C3C4"/>
                      </a:solidFill>
                      <a:prstDash val="solid"/>
                      <a:round/>
                      <a:headEnd type="none" w="med" len="med"/>
                      <a:tailEnd type="none" w="med" len="med"/>
                    </a:lnT>
                    <a:lnB w="12700" cap="flat" cmpd="sng" algn="ctr">
                      <a:solidFill>
                        <a:srgbClr val="BABDBF"/>
                      </a:solidFill>
                      <a:prstDash val="solid"/>
                      <a:round/>
                      <a:headEnd type="none" w="med" len="med"/>
                      <a:tailEnd type="none" w="med" len="med"/>
                    </a:lnB>
                    <a:solidFill>
                      <a:srgbClr val="E9EDF0"/>
                    </a:solidFill>
                  </a:tcPr>
                </a:tc>
                <a:tc>
                  <a:txBody>
                    <a:bodyPr/>
                    <a:lstStyle/>
                    <a:p>
                      <a:pPr indent="0" marL="0">
                        <a:lnSpc>
                          <a:spcPts val="1750"/>
                        </a:lnSpc>
                        <a:buNone/>
                      </a:pPr>
                      <a:r>
                        <a:rPr lang="en-US" sz="1250" dirty="0">
                          <a:solidFill>
                            <a:srgbClr val="101820"/>
                          </a:solidFill>
                          <a:latin typeface="IBM Plex Sans" pitchFamily="34" charset="0"/>
                          <a:ea typeface="IBM Plex Sans" pitchFamily="34" charset="-122"/>
                          <a:cs typeface="IBM Plex Sans" pitchFamily="34" charset="-120"/>
                        </a:rPr>
                        <a:t>Azure Monitor is only the exporter</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ABDBF"/>
                      </a:solidFill>
                      <a:prstDash val="solid"/>
                      <a:round/>
                      <a:headEnd type="none" w="med" len="med"/>
                      <a:tailEnd type="none" w="med" len="med"/>
                    </a:lnL>
                    <a:lnR w="12700" cap="flat" cmpd="sng" algn="ctr">
                      <a:solidFill>
                        <a:srgbClr val="BABDBF"/>
                      </a:solidFill>
                      <a:prstDash val="solid"/>
                      <a:round/>
                      <a:headEnd type="none" w="med" len="med"/>
                      <a:tailEnd type="none" w="med" len="med"/>
                    </a:lnR>
                    <a:lnT w="12700" cap="flat" cmpd="sng" algn="ctr">
                      <a:solidFill>
                        <a:srgbClr val="C1C3C4"/>
                      </a:solidFill>
                      <a:prstDash val="solid"/>
                      <a:round/>
                      <a:headEnd type="none" w="med" len="med"/>
                      <a:tailEnd type="none" w="med" len="med"/>
                    </a:lnT>
                    <a:lnB w="12700" cap="flat" cmpd="sng" algn="ctr">
                      <a:solidFill>
                        <a:srgbClr val="BABDBF"/>
                      </a:solidFill>
                      <a:prstDash val="solid"/>
                      <a:round/>
                      <a:headEnd type="none" w="med" len="med"/>
                      <a:tailEnd type="none" w="med" len="med"/>
                    </a:lnB>
                    <a:solidFill>
                      <a:srgbClr val="E9EDF0"/>
                    </a:solidFill>
                  </a:tcPr>
                </a:tc>
              </a:tr>
              <a:tr h="346075">
                <a:tc>
                  <a:txBody>
                    <a:bodyPr/>
                    <a:lstStyle/>
                    <a:p>
                      <a:pPr indent="0" marL="0">
                        <a:lnSpc>
                          <a:spcPts val="1750"/>
                        </a:lnSpc>
                        <a:buNone/>
                      </a:pPr>
                      <a:r>
                        <a:rPr lang="en-US" sz="1250" dirty="0">
                          <a:solidFill>
                            <a:srgbClr val="4A5660"/>
                          </a:solidFill>
                          <a:latin typeface="IBM Plex Sans" pitchFamily="34" charset="0"/>
                          <a:ea typeface="IBM Plex Sans" pitchFamily="34" charset="-122"/>
                          <a:cs typeface="IBM Plex Sans" pitchFamily="34" charset="-120"/>
                        </a:rPr>
                        <a:t>Infrastructure</a:t>
                      </a:r>
                      <a:endParaRPr lang="en-US" sz="1250" dirty="0">
                        <a:latin typeface="IBM Plex Sans" charset="0"/>
                        <a:ea typeface="IBM Plex Sans" charset="0"/>
                        <a:cs typeface="IBM Plex Sans" charset="0"/>
                      </a:endParaRPr>
                    </a:p>
                  </a:txBody>
                  <a:tcPr marL="55563" marR="55563" marT="55563" marB="55563" anchor="t">
                    <a:lnL w="0" cap="flat" cmpd="sng" algn="ctr">
                      <a:noFill/>
                    </a:lnL>
                    <a:lnR w="12700" cap="flat" cmpd="sng" algn="ctr">
                      <a:solidFill>
                        <a:srgbClr val="C1C3C4"/>
                      </a:solidFill>
                      <a:prstDash val="solid"/>
                      <a:round/>
                      <a:headEnd type="none" w="med" len="med"/>
                      <a:tailEnd type="none" w="med" len="med"/>
                    </a:lnR>
                    <a:lnT w="12700" cap="flat" cmpd="sng" algn="ctr">
                      <a:solidFill>
                        <a:srgbClr val="BABDBF"/>
                      </a:solidFill>
                      <a:prstDash val="solid"/>
                      <a:round/>
                      <a:headEnd type="none" w="med" len="med"/>
                      <a:tailEnd type="none" w="med" len="med"/>
                    </a:lnT>
                    <a:lnB w="12700" cap="flat" cmpd="sng" algn="ctr">
                      <a:solidFill>
                        <a:srgbClr val="C1C3C4"/>
                      </a:solidFill>
                      <a:prstDash val="solid"/>
                      <a:round/>
                      <a:headEnd type="none" w="med" len="med"/>
                      <a:tailEnd type="none" w="med" len="med"/>
                    </a:lnB>
                  </a:tcPr>
                </a:tc>
                <a:tc>
                  <a:txBody>
                    <a:bodyPr/>
                    <a:lstStyle/>
                    <a:p>
                      <a:pPr indent="0" marL="0">
                        <a:lnSpc>
                          <a:spcPts val="1750"/>
                        </a:lnSpc>
                        <a:buNone/>
                      </a:pPr>
                      <a:r>
                        <a:rPr lang="en-US" sz="1250" dirty="0">
                          <a:solidFill>
                            <a:srgbClr val="101820"/>
                          </a:solidFill>
                          <a:latin typeface="IBM Plex Sans" pitchFamily="34" charset="0"/>
                          <a:ea typeface="IBM Plex Sans" pitchFamily="34" charset="-122"/>
                          <a:cs typeface="IBM Plex Sans" pitchFamily="34" charset="-120"/>
                        </a:rPr>
                        <a:t>Bicep</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1C3C4"/>
                      </a:solidFill>
                      <a:prstDash val="solid"/>
                      <a:round/>
                      <a:headEnd type="none" w="med" len="med"/>
                      <a:tailEnd type="none" w="med" len="med"/>
                    </a:lnL>
                    <a:lnR w="12700" cap="flat" cmpd="sng" algn="ctr">
                      <a:solidFill>
                        <a:srgbClr val="C1C3C4"/>
                      </a:solidFill>
                      <a:prstDash val="solid"/>
                      <a:round/>
                      <a:headEnd type="none" w="med" len="med"/>
                      <a:tailEnd type="none" w="med" len="med"/>
                    </a:lnR>
                    <a:lnT w="12700" cap="flat" cmpd="sng" algn="ctr">
                      <a:solidFill>
                        <a:srgbClr val="BABDBF"/>
                      </a:solidFill>
                      <a:prstDash val="solid"/>
                      <a:round/>
                      <a:headEnd type="none" w="med" len="med"/>
                      <a:tailEnd type="none" w="med" len="med"/>
                    </a:lnT>
                    <a:lnB w="12700" cap="flat" cmpd="sng" algn="ctr">
                      <a:solidFill>
                        <a:srgbClr val="C1C3C4"/>
                      </a:solidFill>
                      <a:prstDash val="solid"/>
                      <a:round/>
                      <a:headEnd type="none" w="med" len="med"/>
                      <a:tailEnd type="none" w="med" len="med"/>
                    </a:lnB>
                  </a:tcPr>
                </a:tc>
                <a:tc>
                  <a:txBody>
                    <a:bodyPr/>
                    <a:lstStyle/>
                    <a:p>
                      <a:pPr indent="0" marL="0">
                        <a:lnSpc>
                          <a:spcPts val="1750"/>
                        </a:lnSpc>
                        <a:buNone/>
                      </a:pPr>
                      <a:r>
                        <a:rPr lang="en-US" sz="1250" dirty="0">
                          <a:solidFill>
                            <a:srgbClr val="101820"/>
                          </a:solidFill>
                          <a:latin typeface="IBM Plex Sans" pitchFamily="34" charset="0"/>
                          <a:ea typeface="IBM Plex Sans" pitchFamily="34" charset="-122"/>
                          <a:cs typeface="IBM Plex Sans" pitchFamily="34" charset="-120"/>
                        </a:rPr>
                        <a:t>Idempotent, reviewable by what-if</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1C3C4"/>
                      </a:solidFill>
                      <a:prstDash val="solid"/>
                      <a:round/>
                      <a:headEnd type="none" w="med" len="med"/>
                      <a:tailEnd type="none" w="med" len="med"/>
                    </a:lnL>
                    <a:lnR w="12700" cap="flat" cmpd="sng" algn="ctr">
                      <a:solidFill>
                        <a:srgbClr val="C1C3C4"/>
                      </a:solidFill>
                      <a:prstDash val="solid"/>
                      <a:round/>
                      <a:headEnd type="none" w="med" len="med"/>
                      <a:tailEnd type="none" w="med" len="med"/>
                    </a:lnR>
                    <a:lnT w="12700" cap="flat" cmpd="sng" algn="ctr">
                      <a:solidFill>
                        <a:srgbClr val="BABDBF"/>
                      </a:solidFill>
                      <a:prstDash val="solid"/>
                      <a:round/>
                      <a:headEnd type="none" w="med" len="med"/>
                      <a:tailEnd type="none" w="med" len="med"/>
                    </a:lnT>
                    <a:lnB w="12700" cap="flat" cmpd="sng" algn="ctr">
                      <a:solidFill>
                        <a:srgbClr val="C1C3C4"/>
                      </a:solidFill>
                      <a:prstDash val="solid"/>
                      <a:round/>
                      <a:headEnd type="none" w="med" len="med"/>
                      <a:tailEnd type="none" w="med" len="med"/>
                    </a:lnB>
                  </a:tcPr>
                </a:tc>
              </a:tr>
              <a:tr h="346075">
                <a:tc>
                  <a:txBody>
                    <a:bodyPr/>
                    <a:lstStyle/>
                    <a:p>
                      <a:pPr indent="0" marL="0">
                        <a:lnSpc>
                          <a:spcPts val="1750"/>
                        </a:lnSpc>
                        <a:buNone/>
                      </a:pPr>
                      <a:r>
                        <a:rPr lang="en-US" sz="1250" dirty="0">
                          <a:solidFill>
                            <a:srgbClr val="4A5660"/>
                          </a:solidFill>
                          <a:latin typeface="IBM Plex Sans" pitchFamily="34" charset="0"/>
                          <a:ea typeface="IBM Plex Sans" pitchFamily="34" charset="-122"/>
                          <a:cs typeface="IBM Plex Sans" pitchFamily="34" charset="-120"/>
                        </a:rPr>
                        <a:t>CI/CD</a:t>
                      </a:r>
                      <a:endParaRPr lang="en-US" sz="1250" dirty="0">
                        <a:latin typeface="IBM Plex Sans" charset="0"/>
                        <a:ea typeface="IBM Plex Sans" charset="0"/>
                        <a:cs typeface="IBM Plex Sans" charset="0"/>
                      </a:endParaRPr>
                    </a:p>
                  </a:txBody>
                  <a:tcPr marL="55563" marR="55563" marT="55563" marB="55563" anchor="t">
                    <a:lnL w="0" cap="flat" cmpd="sng" algn="ctr">
                      <a:noFill/>
                    </a:lnL>
                    <a:lnR w="12700" cap="flat" cmpd="sng" algn="ctr">
                      <a:solidFill>
                        <a:srgbClr val="BABDBF"/>
                      </a:solidFill>
                      <a:prstDash val="solid"/>
                      <a:round/>
                      <a:headEnd type="none" w="med" len="med"/>
                      <a:tailEnd type="none" w="med" len="med"/>
                    </a:lnR>
                    <a:lnT w="12700" cap="flat" cmpd="sng" algn="ctr">
                      <a:solidFill>
                        <a:srgbClr val="C1C3C4"/>
                      </a:solidFill>
                      <a:prstDash val="solid"/>
                      <a:round/>
                      <a:headEnd type="none" w="med" len="med"/>
                      <a:tailEnd type="none" w="med" len="med"/>
                    </a:lnT>
                    <a:lnB w="12700" cap="flat" cmpd="sng" algn="ctr">
                      <a:solidFill>
                        <a:srgbClr val="BABDBF"/>
                      </a:solidFill>
                      <a:prstDash val="solid"/>
                      <a:round/>
                      <a:headEnd type="none" w="med" len="med"/>
                      <a:tailEnd type="none" w="med" len="med"/>
                    </a:lnB>
                    <a:solidFill>
                      <a:srgbClr val="E9EDF0"/>
                    </a:solidFill>
                  </a:tcPr>
                </a:tc>
                <a:tc>
                  <a:txBody>
                    <a:bodyPr/>
                    <a:lstStyle/>
                    <a:p>
                      <a:pPr indent="0" marL="0">
                        <a:lnSpc>
                          <a:spcPts val="1750"/>
                        </a:lnSpc>
                        <a:buNone/>
                      </a:pPr>
                      <a:r>
                        <a:rPr lang="en-US" sz="1250" dirty="0">
                          <a:solidFill>
                            <a:srgbClr val="101820"/>
                          </a:solidFill>
                          <a:latin typeface="IBM Plex Sans" pitchFamily="34" charset="0"/>
                          <a:ea typeface="IBM Plex Sans" pitchFamily="34" charset="-122"/>
                          <a:cs typeface="IBM Plex Sans" pitchFamily="34" charset="-120"/>
                        </a:rPr>
                        <a:t>GitHub Actions + OIDC</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ABDBF"/>
                      </a:solidFill>
                      <a:prstDash val="solid"/>
                      <a:round/>
                      <a:headEnd type="none" w="med" len="med"/>
                      <a:tailEnd type="none" w="med" len="med"/>
                    </a:lnL>
                    <a:lnR w="12700" cap="flat" cmpd="sng" algn="ctr">
                      <a:solidFill>
                        <a:srgbClr val="BABDBF"/>
                      </a:solidFill>
                      <a:prstDash val="solid"/>
                      <a:round/>
                      <a:headEnd type="none" w="med" len="med"/>
                      <a:tailEnd type="none" w="med" len="med"/>
                    </a:lnR>
                    <a:lnT w="12700" cap="flat" cmpd="sng" algn="ctr">
                      <a:solidFill>
                        <a:srgbClr val="C1C3C4"/>
                      </a:solidFill>
                      <a:prstDash val="solid"/>
                      <a:round/>
                      <a:headEnd type="none" w="med" len="med"/>
                      <a:tailEnd type="none" w="med" len="med"/>
                    </a:lnT>
                    <a:lnB w="12700" cap="flat" cmpd="sng" algn="ctr">
                      <a:solidFill>
                        <a:srgbClr val="BABDBF"/>
                      </a:solidFill>
                      <a:prstDash val="solid"/>
                      <a:round/>
                      <a:headEnd type="none" w="med" len="med"/>
                      <a:tailEnd type="none" w="med" len="med"/>
                    </a:lnB>
                    <a:solidFill>
                      <a:srgbClr val="E9EDF0"/>
                    </a:solidFill>
                  </a:tcPr>
                </a:tc>
                <a:tc>
                  <a:txBody>
                    <a:bodyPr/>
                    <a:lstStyle/>
                    <a:p>
                      <a:pPr indent="0" marL="0">
                        <a:lnSpc>
                          <a:spcPts val="1750"/>
                        </a:lnSpc>
                        <a:buNone/>
                      </a:pPr>
                      <a:r>
                        <a:rPr lang="en-US" sz="1250" dirty="0">
                          <a:solidFill>
                            <a:srgbClr val="101820"/>
                          </a:solidFill>
                          <a:latin typeface="IBM Plex Sans" pitchFamily="34" charset="0"/>
                          <a:ea typeface="IBM Plex Sans" pitchFamily="34" charset="-122"/>
                          <a:cs typeface="IBM Plex Sans" pitchFamily="34" charset="-120"/>
                        </a:rPr>
                        <a:t>No stored Azure secret exists</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ABDBF"/>
                      </a:solidFill>
                      <a:prstDash val="solid"/>
                      <a:round/>
                      <a:headEnd type="none" w="med" len="med"/>
                      <a:tailEnd type="none" w="med" len="med"/>
                    </a:lnL>
                    <a:lnR w="12700" cap="flat" cmpd="sng" algn="ctr">
                      <a:solidFill>
                        <a:srgbClr val="BABDBF"/>
                      </a:solidFill>
                      <a:prstDash val="solid"/>
                      <a:round/>
                      <a:headEnd type="none" w="med" len="med"/>
                      <a:tailEnd type="none" w="med" len="med"/>
                    </a:lnR>
                    <a:lnT w="12700" cap="flat" cmpd="sng" algn="ctr">
                      <a:solidFill>
                        <a:srgbClr val="C1C3C4"/>
                      </a:solidFill>
                      <a:prstDash val="solid"/>
                      <a:round/>
                      <a:headEnd type="none" w="med" len="med"/>
                      <a:tailEnd type="none" w="med" len="med"/>
                    </a:lnT>
                    <a:lnB w="12700" cap="flat" cmpd="sng" algn="ctr">
                      <a:solidFill>
                        <a:srgbClr val="BABDBF"/>
                      </a:solidFill>
                      <a:prstDash val="solid"/>
                      <a:round/>
                      <a:headEnd type="none" w="med" len="med"/>
                      <a:tailEnd type="none" w="med" len="med"/>
                    </a:lnB>
                    <a:solidFill>
                      <a:srgbClr val="E9EDF0"/>
                    </a:solidFill>
                  </a:tcPr>
                </a:tc>
              </a:tr>
              <a:tr h="346075">
                <a:tc>
                  <a:txBody>
                    <a:bodyPr/>
                    <a:lstStyle/>
                    <a:p>
                      <a:pPr indent="0" marL="0">
                        <a:lnSpc>
                          <a:spcPts val="1750"/>
                        </a:lnSpc>
                        <a:buNone/>
                      </a:pPr>
                      <a:r>
                        <a:rPr lang="en-US" sz="1250" dirty="0">
                          <a:solidFill>
                            <a:srgbClr val="4A5660"/>
                          </a:solidFill>
                          <a:latin typeface="IBM Plex Sans" pitchFamily="34" charset="0"/>
                          <a:ea typeface="IBM Plex Sans" pitchFamily="34" charset="-122"/>
                          <a:cs typeface="IBM Plex Sans" pitchFamily="34" charset="-120"/>
                        </a:rPr>
                        <a:t>Tests</a:t>
                      </a:r>
                      <a:endParaRPr lang="en-US" sz="1250" dirty="0">
                        <a:latin typeface="IBM Plex Sans" charset="0"/>
                        <a:ea typeface="IBM Plex Sans" charset="0"/>
                        <a:cs typeface="IBM Plex Sans" charset="0"/>
                      </a:endParaRPr>
                    </a:p>
                  </a:txBody>
                  <a:tcPr marL="55563" marR="55563" marT="55563" marB="55563" anchor="t">
                    <a:lnL w="0" cap="flat" cmpd="sng" algn="ctr">
                      <a:noFill/>
                    </a:lnL>
                    <a:lnR w="12700" cap="flat" cmpd="sng" algn="ctr">
                      <a:solidFill>
                        <a:srgbClr val="C1C3C4"/>
                      </a:solidFill>
                      <a:prstDash val="solid"/>
                      <a:round/>
                      <a:headEnd type="none" w="med" len="med"/>
                      <a:tailEnd type="none" w="med" len="med"/>
                    </a:lnR>
                    <a:lnT w="12700" cap="flat" cmpd="sng" algn="ctr">
                      <a:solidFill>
                        <a:srgbClr val="BABDBF"/>
                      </a:solidFill>
                      <a:prstDash val="solid"/>
                      <a:round/>
                      <a:headEnd type="none" w="med" len="med"/>
                      <a:tailEnd type="none" w="med" len="med"/>
                    </a:lnT>
                    <a:lnB w="12700" cap="flat" cmpd="sng" algn="ctr">
                      <a:solidFill>
                        <a:srgbClr val="C1C3C4"/>
                      </a:solidFill>
                      <a:prstDash val="solid"/>
                      <a:round/>
                      <a:headEnd type="none" w="med" len="med"/>
                      <a:tailEnd type="none" w="med" len="med"/>
                    </a:lnB>
                  </a:tcPr>
                </a:tc>
                <a:tc>
                  <a:txBody>
                    <a:bodyPr/>
                    <a:lstStyle/>
                    <a:p>
                      <a:pPr indent="0" marL="0">
                        <a:lnSpc>
                          <a:spcPts val="1750"/>
                        </a:lnSpc>
                        <a:buNone/>
                      </a:pPr>
                      <a:r>
                        <a:rPr lang="en-US" sz="1250" dirty="0">
                          <a:solidFill>
                            <a:srgbClr val="101820"/>
                          </a:solidFill>
                          <a:latin typeface="IBM Plex Sans" pitchFamily="34" charset="0"/>
                          <a:ea typeface="IBM Plex Sans" pitchFamily="34" charset="-122"/>
                          <a:cs typeface="IBM Plex Sans" pitchFamily="34" charset="-120"/>
                        </a:rPr>
                        <a:t>xUnit v3 + Testcontainers</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1C3C4"/>
                      </a:solidFill>
                      <a:prstDash val="solid"/>
                      <a:round/>
                      <a:headEnd type="none" w="med" len="med"/>
                      <a:tailEnd type="none" w="med" len="med"/>
                    </a:lnL>
                    <a:lnR w="12700" cap="flat" cmpd="sng" algn="ctr">
                      <a:solidFill>
                        <a:srgbClr val="C1C3C4"/>
                      </a:solidFill>
                      <a:prstDash val="solid"/>
                      <a:round/>
                      <a:headEnd type="none" w="med" len="med"/>
                      <a:tailEnd type="none" w="med" len="med"/>
                    </a:lnR>
                    <a:lnT w="12700" cap="flat" cmpd="sng" algn="ctr">
                      <a:solidFill>
                        <a:srgbClr val="BABDBF"/>
                      </a:solidFill>
                      <a:prstDash val="solid"/>
                      <a:round/>
                      <a:headEnd type="none" w="med" len="med"/>
                      <a:tailEnd type="none" w="med" len="med"/>
                    </a:lnT>
                    <a:lnB w="12700" cap="flat" cmpd="sng" algn="ctr">
                      <a:solidFill>
                        <a:srgbClr val="C1C3C4"/>
                      </a:solidFill>
                      <a:prstDash val="solid"/>
                      <a:round/>
                      <a:headEnd type="none" w="med" len="med"/>
                      <a:tailEnd type="none" w="med" len="med"/>
                    </a:lnB>
                  </a:tcPr>
                </a:tc>
                <a:tc>
                  <a:txBody>
                    <a:bodyPr/>
                    <a:lstStyle/>
                    <a:p>
                      <a:pPr indent="0" marL="0">
                        <a:lnSpc>
                          <a:spcPts val="1750"/>
                        </a:lnSpc>
                        <a:buNone/>
                      </a:pPr>
                      <a:r>
                        <a:rPr lang="en-US" sz="1250" dirty="0">
                          <a:solidFill>
                            <a:srgbClr val="101820"/>
                          </a:solidFill>
                          <a:latin typeface="IBM Plex Sans" pitchFamily="34" charset="0"/>
                          <a:ea typeface="IBM Plex Sans" pitchFamily="34" charset="-122"/>
                          <a:cs typeface="IBM Plex Sans" pitchFamily="34" charset="-120"/>
                        </a:rPr>
                        <a:t>MERGE proven against real SQL Server</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1C3C4"/>
                      </a:solidFill>
                      <a:prstDash val="solid"/>
                      <a:round/>
                      <a:headEnd type="none" w="med" len="med"/>
                      <a:tailEnd type="none" w="med" len="med"/>
                    </a:lnL>
                    <a:lnR w="12700" cap="flat" cmpd="sng" algn="ctr">
                      <a:solidFill>
                        <a:srgbClr val="C1C3C4"/>
                      </a:solidFill>
                      <a:prstDash val="solid"/>
                      <a:round/>
                      <a:headEnd type="none" w="med" len="med"/>
                      <a:tailEnd type="none" w="med" len="med"/>
                    </a:lnR>
                    <a:lnT w="12700" cap="flat" cmpd="sng" algn="ctr">
                      <a:solidFill>
                        <a:srgbClr val="BABDBF"/>
                      </a:solidFill>
                      <a:prstDash val="solid"/>
                      <a:round/>
                      <a:headEnd type="none" w="med" len="med"/>
                      <a:tailEnd type="none" w="med" len="med"/>
                    </a:lnT>
                    <a:lnB w="12700" cap="flat" cmpd="sng" algn="ctr">
                      <a:solidFill>
                        <a:srgbClr val="C1C3C4"/>
                      </a:solidFill>
                      <a:prstDash val="solid"/>
                      <a:round/>
                      <a:headEnd type="none" w="med" len="med"/>
                      <a:tailEnd type="none" w="med" len="med"/>
                    </a:lnB>
                  </a:tcPr>
                </a:tc>
              </a:tr>
            </a:tbl>
          </a:graphicData>
        </a:graphic>
      </p:graphicFrame>
      <p:sp>
        <p:nvSpPr>
          <p:cNvPr id="7" name="Text 4"/>
          <p:cNvSpPr/>
          <p:nvPr/>
        </p:nvSpPr>
        <p:spPr>
          <a:xfrm>
            <a:off x="812800" y="6238280"/>
            <a:ext cx="94626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9868F"/>
                </a:solidFill>
                <a:latin typeface="IBM Plex Sans" pitchFamily="34" charset="0"/>
                <a:ea typeface="IBM Plex Sans" pitchFamily="34" charset="-122"/>
                <a:cs typeface="IBM Plex Sans" pitchFamily="34" charset="-120"/>
              </a:rPr>
              <a:t>Deliberately avoided: AutoMapper and MediatR (now commercially licensed), Kubernetes, microservices, a frontend</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F4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0A6670"/>
                </a:solidFill>
                <a:latin typeface="JetBrains Mono" pitchFamily="49" charset="0"/>
                <a:ea typeface="JetBrains Mono" pitchFamily="49" charset="-122"/>
                <a:cs typeface="JetBrains Mono" pitchFamily="49" charset="-120"/>
              </a:rPr>
              <a:t>DECISIONS</a:t>
            </a:r>
            <a:endParaRPr lang="en-US" sz="1200" dirty="0"/>
          </a:p>
        </p:txBody>
      </p:sp>
      <p:sp>
        <p:nvSpPr>
          <p:cNvPr id="3" name="Text 1"/>
          <p:cNvSpPr/>
          <p:nvPr>
            <p:ph type="title"/>
          </p:nvPr>
        </p:nvSpPr>
        <p:spPr>
          <a:xfrm>
            <a:off x="812800" y="1254720"/>
            <a:ext cx="10883392" cy="480566"/>
          </a:xfrm>
          <a:prstGeom prst="rect">
            <a:avLst/>
          </a:prstGeom>
          <a:noFill/>
          <a:ln/>
        </p:spPr>
        <p:txBody>
          <a:bodyPr wrap="square" lIns="0" tIns="0" rIns="0" bIns="0" rtlCol="0" anchor="t">
            <a:normAutofit/>
          </a:bodyPr>
          <a:lstStyle/>
          <a:p>
            <a:pPr algn="l" indent="0" marL="0">
              <a:lnSpc>
                <a:spcPts val="3584"/>
              </a:lnSpc>
              <a:buNone/>
            </a:pPr>
            <a:r>
              <a:rPr lang="en-US" sz="3200" b="1" i="0" dirty="0">
                <a:solidFill>
                  <a:srgbClr val="101820"/>
                </a:solidFill>
                <a:latin typeface="IBM Plex Sans" pitchFamily="34" charset="0"/>
                <a:ea typeface="IBM Plex Sans" pitchFamily="34" charset="-122"/>
                <a:cs typeface="IBM Plex Sans" pitchFamily="34" charset="-120"/>
              </a:rPr>
              <a:t>Three worth defending, each with a cost</a:t>
            </a:r>
            <a:endParaRPr lang="en-US" sz="3200" dirty="0"/>
          </a:p>
        </p:txBody>
      </p:sp>
      <p:sp>
        <p:nvSpPr>
          <p:cNvPr id="4" name="Shape 2"/>
          <p:cNvSpPr/>
          <p:nvPr/>
        </p:nvSpPr>
        <p:spPr>
          <a:xfrm>
            <a:off x="815975" y="1941661"/>
            <a:ext cx="3380284" cy="2766467"/>
          </a:xfrm>
          <a:prstGeom prst="roundRect">
            <a:avLst>
              <a:gd name="adj" fmla="val 3558"/>
            </a:avLst>
          </a:prstGeom>
          <a:solidFill>
            <a:srgbClr val="FFFFFF"/>
          </a:solidFill>
          <a:ln w="6350">
            <a:solidFill>
              <a:srgbClr val="D3DAE0"/>
            </a:solidFill>
            <a:prstDash val="solid"/>
          </a:ln>
        </p:spPr>
      </p:sp>
      <p:sp>
        <p:nvSpPr>
          <p:cNvPr id="5" name="Text 3"/>
          <p:cNvSpPr/>
          <p:nvPr/>
        </p:nvSpPr>
        <p:spPr>
          <a:xfrm>
            <a:off x="1047750" y="2173436"/>
            <a:ext cx="3145334"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01820"/>
                </a:solidFill>
                <a:latin typeface="IBM Plex Sans" pitchFamily="34" charset="0"/>
                <a:ea typeface="IBM Plex Sans" pitchFamily="34" charset="-122"/>
                <a:cs typeface="IBM Plex Sans" pitchFamily="34" charset="-120"/>
              </a:rPr>
              <a:t>Two data-access tools, not one</a:t>
            </a:r>
            <a:endParaRPr lang="en-US" sz="1600" dirty="0"/>
          </a:p>
        </p:txBody>
      </p:sp>
      <p:sp>
        <p:nvSpPr>
          <p:cNvPr id="6" name="Text 4"/>
          <p:cNvSpPr/>
          <p:nvPr/>
        </p:nvSpPr>
        <p:spPr>
          <a:xfrm>
            <a:off x="1047750" y="2529036"/>
            <a:ext cx="3004236" cy="982861"/>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660"/>
                </a:solidFill>
                <a:latin typeface="IBM Plex Sans" pitchFamily="34" charset="0"/>
                <a:ea typeface="IBM Plex Sans" pitchFamily="34" charset="-122"/>
                <a:cs typeface="IBM Plex Sans" pitchFamily="34" charset="-120"/>
              </a:rPr>
              <a:t>EF Core owns config and migrations. SqlBulkCopy and Dapper own the hot path, because EF round-trips per entity and cannot express a bulk MERGE.</a:t>
            </a:r>
            <a:endParaRPr lang="en-US" sz="1300" dirty="0"/>
          </a:p>
        </p:txBody>
      </p:sp>
      <p:sp>
        <p:nvSpPr>
          <p:cNvPr id="7" name="Shape 5"/>
          <p:cNvSpPr/>
          <p:nvPr/>
        </p:nvSpPr>
        <p:spPr>
          <a:xfrm>
            <a:off x="1047750" y="3932238"/>
            <a:ext cx="2916734" cy="0"/>
          </a:xfrm>
          <a:prstGeom prst="line">
            <a:avLst/>
          </a:prstGeom>
          <a:noFill/>
          <a:ln w="6350">
            <a:solidFill>
              <a:srgbClr val="E2D7C4"/>
            </a:solidFill>
            <a:prstDash val="solid"/>
          </a:ln>
        </p:spPr>
      </p:sp>
      <p:sp>
        <p:nvSpPr>
          <p:cNvPr id="8" name="Text 6"/>
          <p:cNvSpPr/>
          <p:nvPr/>
        </p:nvSpPr>
        <p:spPr>
          <a:xfrm>
            <a:off x="1047750" y="4049713"/>
            <a:ext cx="3004236"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C580B"/>
                </a:solidFill>
                <a:latin typeface="IBM Plex Sans" pitchFamily="34" charset="0"/>
                <a:ea typeface="IBM Plex Sans" pitchFamily="34" charset="-122"/>
                <a:cs typeface="IBM Plex Sans" pitchFamily="34" charset="-120"/>
              </a:rPr>
              <a:t>Cost:</a:t>
            </a:r>
            <a:r>
              <a:rPr lang="en-US" sz="1200" dirty="0">
                <a:solidFill>
                  <a:srgbClr val="9C580B"/>
                </a:solidFill>
                <a:latin typeface="IBM Plex Sans" pitchFamily="34" charset="0"/>
                <a:ea typeface="IBM Plex Sans" pitchFamily="34" charset="-122"/>
                <a:cs typeface="IBM Plex Sans" pitchFamily="34" charset="-120"/>
              </a:rPr>
              <a:t> two idioms to learn, and two mapping assumptions that can drift apart.</a:t>
            </a:r>
            <a:endParaRPr lang="en-US" sz="1200" dirty="0"/>
          </a:p>
        </p:txBody>
      </p:sp>
      <p:sp>
        <p:nvSpPr>
          <p:cNvPr id="9" name="Shape 7"/>
          <p:cNvSpPr/>
          <p:nvPr/>
        </p:nvSpPr>
        <p:spPr>
          <a:xfrm>
            <a:off x="4405809" y="1941661"/>
            <a:ext cx="3380333" cy="2766467"/>
          </a:xfrm>
          <a:prstGeom prst="roundRect">
            <a:avLst>
              <a:gd name="adj" fmla="val 3558"/>
            </a:avLst>
          </a:prstGeom>
          <a:solidFill>
            <a:srgbClr val="FFFFFF"/>
          </a:solidFill>
          <a:ln w="6350">
            <a:solidFill>
              <a:srgbClr val="D3DAE0"/>
            </a:solidFill>
            <a:prstDash val="solid"/>
          </a:ln>
        </p:spPr>
      </p:sp>
      <p:sp>
        <p:nvSpPr>
          <p:cNvPr id="10" name="Text 8"/>
          <p:cNvSpPr/>
          <p:nvPr/>
        </p:nvSpPr>
        <p:spPr>
          <a:xfrm>
            <a:off x="4637584" y="2173436"/>
            <a:ext cx="3004287"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01820"/>
                </a:solidFill>
                <a:latin typeface="IBM Plex Sans" pitchFamily="34" charset="0"/>
                <a:ea typeface="IBM Plex Sans" pitchFamily="34" charset="-122"/>
                <a:cs typeface="IBM Plex Sans" pitchFamily="34" charset="-120"/>
              </a:rPr>
              <a:t>No queue between the stages</a:t>
            </a:r>
            <a:endParaRPr lang="en-US" sz="1600" dirty="0"/>
          </a:p>
        </p:txBody>
      </p:sp>
      <p:sp>
        <p:nvSpPr>
          <p:cNvPr id="11" name="Text 9"/>
          <p:cNvSpPr/>
          <p:nvPr/>
        </p:nvSpPr>
        <p:spPr>
          <a:xfrm>
            <a:off x="4637584" y="2529036"/>
            <a:ext cx="3004287" cy="122222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660"/>
                </a:solidFill>
                <a:latin typeface="IBM Plex Sans" pitchFamily="34" charset="0"/>
                <a:ea typeface="IBM Plex Sans" pitchFamily="34" charset="-122"/>
                <a:cs typeface="IBM Plex Sans" pitchFamily="34" charset="-120"/>
              </a:rPr>
              <a:t>A bounded Channel was the plan. The staging table already is the queue — and unlike a channel it survives a restart and can be inspected with a SELECT.</a:t>
            </a:r>
            <a:endParaRPr lang="en-US" sz="1300" dirty="0"/>
          </a:p>
        </p:txBody>
      </p:sp>
      <p:sp>
        <p:nvSpPr>
          <p:cNvPr id="12" name="Shape 10"/>
          <p:cNvSpPr/>
          <p:nvPr/>
        </p:nvSpPr>
        <p:spPr>
          <a:xfrm>
            <a:off x="4637584" y="3932238"/>
            <a:ext cx="2916783" cy="0"/>
          </a:xfrm>
          <a:prstGeom prst="line">
            <a:avLst/>
          </a:prstGeom>
          <a:noFill/>
          <a:ln w="6350">
            <a:solidFill>
              <a:srgbClr val="E2D7C4"/>
            </a:solidFill>
            <a:prstDash val="solid"/>
          </a:ln>
        </p:spPr>
      </p:sp>
      <p:sp>
        <p:nvSpPr>
          <p:cNvPr id="13" name="Text 11"/>
          <p:cNvSpPr/>
          <p:nvPr/>
        </p:nvSpPr>
        <p:spPr>
          <a:xfrm>
            <a:off x="4637584" y="4049713"/>
            <a:ext cx="3004287"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C580B"/>
                </a:solidFill>
                <a:latin typeface="IBM Plex Sans" pitchFamily="34" charset="0"/>
                <a:ea typeface="IBM Plex Sans" pitchFamily="34" charset="-122"/>
                <a:cs typeface="IBM Plex Sans" pitchFamily="34" charset="-120"/>
              </a:rPr>
              <a:t>Cost:</a:t>
            </a:r>
            <a:r>
              <a:rPr lang="en-US" sz="1200" dirty="0">
                <a:solidFill>
                  <a:srgbClr val="9C580B"/>
                </a:solidFill>
                <a:latin typeface="IBM Plex Sans" pitchFamily="34" charset="0"/>
                <a:ea typeface="IBM Plex Sans" pitchFamily="34" charset="-122"/>
                <a:cs typeface="IBM Plex Sans" pitchFamily="34" charset="-120"/>
              </a:rPr>
              <a:t> higher latency, and every row written twice.</a:t>
            </a:r>
            <a:endParaRPr lang="en-US" sz="1200" dirty="0"/>
          </a:p>
        </p:txBody>
      </p:sp>
      <p:sp>
        <p:nvSpPr>
          <p:cNvPr id="14" name="Shape 12"/>
          <p:cNvSpPr/>
          <p:nvPr/>
        </p:nvSpPr>
        <p:spPr>
          <a:xfrm>
            <a:off x="7995692" y="1941661"/>
            <a:ext cx="3380333" cy="2766467"/>
          </a:xfrm>
          <a:prstGeom prst="roundRect">
            <a:avLst>
              <a:gd name="adj" fmla="val 3558"/>
            </a:avLst>
          </a:prstGeom>
          <a:solidFill>
            <a:srgbClr val="FFFFFF"/>
          </a:solidFill>
          <a:ln w="6350">
            <a:solidFill>
              <a:srgbClr val="D3DAE0"/>
            </a:solidFill>
            <a:prstDash val="solid"/>
          </a:ln>
        </p:spPr>
      </p:sp>
      <p:sp>
        <p:nvSpPr>
          <p:cNvPr id="15" name="Text 13"/>
          <p:cNvSpPr/>
          <p:nvPr/>
        </p:nvSpPr>
        <p:spPr>
          <a:xfrm>
            <a:off x="8227467" y="2173436"/>
            <a:ext cx="3004287"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01820"/>
                </a:solidFill>
                <a:latin typeface="IBM Plex Sans" pitchFamily="34" charset="0"/>
                <a:ea typeface="IBM Plex Sans" pitchFamily="34" charset="-122"/>
                <a:cs typeface="IBM Plex Sans" pitchFamily="34" charset="-120"/>
              </a:rPr>
              <a:t>Liveness checks nothing</a:t>
            </a:r>
            <a:endParaRPr lang="en-US" sz="1600" dirty="0"/>
          </a:p>
        </p:txBody>
      </p:sp>
      <p:sp>
        <p:nvSpPr>
          <p:cNvPr id="16" name="Text 14"/>
          <p:cNvSpPr/>
          <p:nvPr/>
        </p:nvSpPr>
        <p:spPr>
          <a:xfrm>
            <a:off x="8227467" y="2529036"/>
            <a:ext cx="3004287" cy="982861"/>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660"/>
                </a:solidFill>
                <a:latin typeface="IBM Plex Sans" pitchFamily="34" charset="0"/>
                <a:ea typeface="IBM Plex Sans" pitchFamily="34" charset="-122"/>
                <a:cs typeface="IBM Plex Sans" pitchFamily="34" charset="-120"/>
              </a:rPr>
              <a:t>Azure SQL serverless auto-pauses. A probe that queried it would report unhealthy during a resume, and App Service would recycle a working app.</a:t>
            </a:r>
            <a:endParaRPr lang="en-US" sz="1300" dirty="0"/>
          </a:p>
        </p:txBody>
      </p:sp>
      <p:sp>
        <p:nvSpPr>
          <p:cNvPr id="17" name="Shape 15"/>
          <p:cNvSpPr/>
          <p:nvPr/>
        </p:nvSpPr>
        <p:spPr>
          <a:xfrm>
            <a:off x="8227467" y="3932238"/>
            <a:ext cx="2916783" cy="0"/>
          </a:xfrm>
          <a:prstGeom prst="line">
            <a:avLst/>
          </a:prstGeom>
          <a:noFill/>
          <a:ln w="6350">
            <a:solidFill>
              <a:srgbClr val="E2D7C4"/>
            </a:solidFill>
            <a:prstDash val="solid"/>
          </a:ln>
        </p:spPr>
      </p:sp>
      <p:sp>
        <p:nvSpPr>
          <p:cNvPr id="18" name="Text 16"/>
          <p:cNvSpPr/>
          <p:nvPr/>
        </p:nvSpPr>
        <p:spPr>
          <a:xfrm>
            <a:off x="8227467" y="4049713"/>
            <a:ext cx="3004287"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C580B"/>
                </a:solidFill>
                <a:latin typeface="IBM Plex Sans" pitchFamily="34" charset="0"/>
                <a:ea typeface="IBM Plex Sans" pitchFamily="34" charset="-122"/>
                <a:cs typeface="IBM Plex Sans" pitchFamily="34" charset="-120"/>
              </a:rPr>
              <a:t>Cost:</a:t>
            </a:r>
            <a:r>
              <a:rPr lang="en-US" sz="1200" dirty="0">
                <a:solidFill>
                  <a:srgbClr val="9C580B"/>
                </a:solidFill>
                <a:latin typeface="IBM Plex Sans" pitchFamily="34" charset="0"/>
                <a:ea typeface="IBM Plex Sans" pitchFamily="34" charset="-122"/>
                <a:cs typeface="IBM Plex Sans" pitchFamily="34" charset="-120"/>
              </a:rPr>
              <a:t> a broken app that still serves HTTP looks healthy.</a:t>
            </a:r>
            <a:endParaRPr lang="en-US" sz="1200" dirty="0"/>
          </a:p>
        </p:txBody>
      </p:sp>
      <p:sp>
        <p:nvSpPr>
          <p:cNvPr id="19" name="Text 17"/>
          <p:cNvSpPr/>
          <p:nvPr/>
        </p:nvSpPr>
        <p:spPr>
          <a:xfrm>
            <a:off x="812800" y="6238280"/>
            <a:ext cx="90957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9868F"/>
                </a:solidFill>
                <a:latin typeface="IBM Plex Sans" pitchFamily="34" charset="0"/>
                <a:ea typeface="IBM Plex Sans" pitchFamily="34" charset="-122"/>
                <a:cs typeface="IBM Plex Sans" pitchFamily="34" charset="-120"/>
              </a:rPr>
              <a:t>Each one is written up as an architecture decision record, with the alternatives considered and when to revisit it</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F4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0A6670"/>
                </a:solidFill>
                <a:latin typeface="JetBrains Mono" pitchFamily="49" charset="0"/>
                <a:ea typeface="JetBrains Mono" pitchFamily="49" charset="-122"/>
                <a:cs typeface="JetBrains Mono" pitchFamily="49" charset="-120"/>
              </a:rPr>
              <a:t>MEASURED</a:t>
            </a:r>
            <a:endParaRPr lang="en-US" sz="1200" dirty="0"/>
          </a:p>
        </p:txBody>
      </p:sp>
      <p:sp>
        <p:nvSpPr>
          <p:cNvPr id="3" name="Text 1"/>
          <p:cNvSpPr/>
          <p:nvPr>
            <p:ph type="title"/>
          </p:nvPr>
        </p:nvSpPr>
        <p:spPr>
          <a:xfrm>
            <a:off x="812800" y="1242020"/>
            <a:ext cx="10883392" cy="480566"/>
          </a:xfrm>
          <a:prstGeom prst="rect">
            <a:avLst/>
          </a:prstGeom>
          <a:noFill/>
          <a:ln/>
        </p:spPr>
        <p:txBody>
          <a:bodyPr wrap="square" lIns="0" tIns="0" rIns="0" bIns="0" rtlCol="0" anchor="t">
            <a:normAutofit/>
          </a:bodyPr>
          <a:lstStyle/>
          <a:p>
            <a:pPr algn="l" indent="0" marL="0">
              <a:lnSpc>
                <a:spcPts val="3584"/>
              </a:lnSpc>
              <a:buNone/>
            </a:pPr>
            <a:r>
              <a:rPr lang="en-US" sz="3200" b="1" i="0" dirty="0">
                <a:solidFill>
                  <a:srgbClr val="101820"/>
                </a:solidFill>
                <a:latin typeface="IBM Plex Sans" pitchFamily="34" charset="0"/>
                <a:ea typeface="IBM Plex Sans" pitchFamily="34" charset="-122"/>
                <a:cs typeface="IBM Plex Sans" pitchFamily="34" charset="-120"/>
              </a:rPr>
              <a:t>Against the real upstream, not estimated</a:t>
            </a:r>
            <a:endParaRPr lang="en-US" sz="3200" dirty="0"/>
          </a:p>
        </p:txBody>
      </p:sp>
      <p:sp>
        <p:nvSpPr>
          <p:cNvPr id="4" name="Shape 2"/>
          <p:cNvSpPr/>
          <p:nvPr/>
        </p:nvSpPr>
        <p:spPr>
          <a:xfrm>
            <a:off x="815975" y="1916261"/>
            <a:ext cx="5187950" cy="1667470"/>
          </a:xfrm>
          <a:prstGeom prst="roundRect">
            <a:avLst>
              <a:gd name="adj" fmla="val 5903"/>
            </a:avLst>
          </a:prstGeom>
          <a:solidFill>
            <a:srgbClr val="FFFFFF"/>
          </a:solidFill>
          <a:ln w="6350">
            <a:solidFill>
              <a:srgbClr val="D3DAE0"/>
            </a:solidFill>
            <a:prstDash val="solid"/>
          </a:ln>
        </p:spPr>
      </p:sp>
      <p:sp>
        <p:nvSpPr>
          <p:cNvPr id="5" name="Text 3"/>
          <p:cNvSpPr/>
          <p:nvPr/>
        </p:nvSpPr>
        <p:spPr>
          <a:xfrm>
            <a:off x="1035050" y="2135336"/>
            <a:ext cx="4892294" cy="711200"/>
          </a:xfrm>
          <a:prstGeom prst="rect">
            <a:avLst/>
          </a:prstGeom>
          <a:noFill/>
          <a:ln/>
        </p:spPr>
        <p:txBody>
          <a:bodyPr wrap="square" lIns="0" tIns="0" rIns="0" bIns="0" rtlCol="0" anchor="t">
            <a:normAutofit/>
          </a:bodyPr>
          <a:lstStyle/>
          <a:p>
            <a:pPr algn="l" indent="0" marL="0">
              <a:lnSpc>
                <a:spcPts val="5400"/>
              </a:lnSpc>
              <a:buNone/>
            </a:pPr>
            <a:r>
              <a:rPr lang="en-US" sz="5400" b="1" dirty="0">
                <a:solidFill>
                  <a:srgbClr val="0A6670"/>
                </a:solidFill>
                <a:latin typeface="IBM Plex Sans" pitchFamily="34" charset="0"/>
                <a:ea typeface="IBM Plex Sans" pitchFamily="34" charset="-122"/>
                <a:cs typeface="IBM Plex Sans" pitchFamily="34" charset="-120"/>
              </a:rPr>
              <a:t>17,770</a:t>
            </a:r>
            <a:endParaRPr lang="en-US" sz="5400" dirty="0"/>
          </a:p>
        </p:txBody>
      </p:sp>
      <p:sp>
        <p:nvSpPr>
          <p:cNvPr id="6" name="Text 4"/>
          <p:cNvSpPr/>
          <p:nvPr/>
        </p:nvSpPr>
        <p:spPr>
          <a:xfrm>
            <a:off x="1035050" y="2884636"/>
            <a:ext cx="4892294" cy="50542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4A5660"/>
                </a:solidFill>
                <a:latin typeface="IBM Plex Sans" pitchFamily="34" charset="0"/>
                <a:ea typeface="IBM Plex Sans" pitchFamily="34" charset="-122"/>
                <a:cs typeface="IBM Plex Sans" pitchFamily="34" charset="-120"/>
              </a:rPr>
              <a:t>readings staged in </a:t>
            </a:r>
            <a:r>
              <a:rPr lang="en-US" sz="1350" b="1" dirty="0">
                <a:solidFill>
                  <a:srgbClr val="4A5660"/>
                </a:solidFill>
                <a:latin typeface="IBM Plex Sans" pitchFamily="34" charset="0"/>
                <a:ea typeface="IBM Plex Sans" pitchFamily="34" charset="-122"/>
                <a:cs typeface="IBM Plex Sans" pitchFamily="34" charset="-120"/>
              </a:rPr>
              <a:t>15.5 s</a:t>
            </a:r>
            <a:r>
              <a:rPr lang="en-US" sz="1350" dirty="0">
                <a:solidFill>
                  <a:srgbClr val="4A5660"/>
                </a:solidFill>
                <a:latin typeface="IBM Plex Sans" pitchFamily="34" charset="0"/>
                <a:ea typeface="IBM Plex Sans" pitchFamily="34" charset="-122"/>
                <a:cs typeface="IBM Plex Sans" pitchFamily="34" charset="-120"/>
              </a:rPr>
              <a:t>, including an 8.5 MB download — memory flat throughout</a:t>
            </a:r>
            <a:endParaRPr lang="en-US" sz="1350" dirty="0"/>
          </a:p>
        </p:txBody>
      </p:sp>
      <p:sp>
        <p:nvSpPr>
          <p:cNvPr id="7" name="Shape 5"/>
          <p:cNvSpPr/>
          <p:nvPr/>
        </p:nvSpPr>
        <p:spPr>
          <a:xfrm>
            <a:off x="6188075" y="1916261"/>
            <a:ext cx="5187950" cy="1667470"/>
          </a:xfrm>
          <a:prstGeom prst="roundRect">
            <a:avLst>
              <a:gd name="adj" fmla="val 5903"/>
            </a:avLst>
          </a:prstGeom>
          <a:solidFill>
            <a:srgbClr val="FFFFFF"/>
          </a:solidFill>
          <a:ln w="6350">
            <a:solidFill>
              <a:srgbClr val="D3DAE0"/>
            </a:solidFill>
            <a:prstDash val="solid"/>
          </a:ln>
        </p:spPr>
      </p:sp>
      <p:sp>
        <p:nvSpPr>
          <p:cNvPr id="8" name="Text 6"/>
          <p:cNvSpPr/>
          <p:nvPr/>
        </p:nvSpPr>
        <p:spPr>
          <a:xfrm>
            <a:off x="6407150" y="2135336"/>
            <a:ext cx="4892294" cy="711200"/>
          </a:xfrm>
          <a:prstGeom prst="rect">
            <a:avLst/>
          </a:prstGeom>
          <a:noFill/>
          <a:ln/>
        </p:spPr>
        <p:txBody>
          <a:bodyPr wrap="square" lIns="0" tIns="0" rIns="0" bIns="0" rtlCol="0" anchor="t">
            <a:normAutofit/>
          </a:bodyPr>
          <a:lstStyle/>
          <a:p>
            <a:pPr algn="l" indent="0" marL="0">
              <a:lnSpc>
                <a:spcPts val="5400"/>
              </a:lnSpc>
              <a:buNone/>
            </a:pPr>
            <a:r>
              <a:rPr lang="en-US" sz="5400" b="1" dirty="0">
                <a:solidFill>
                  <a:srgbClr val="9C580B"/>
                </a:solidFill>
                <a:latin typeface="IBM Plex Sans" pitchFamily="34" charset="0"/>
                <a:ea typeface="IBM Plex Sans" pitchFamily="34" charset="-122"/>
                <a:cs typeface="IBM Plex Sans" pitchFamily="34" charset="-120"/>
              </a:rPr>
              <a:t>63</a:t>
            </a:r>
            <a:endParaRPr lang="en-US" sz="5400" dirty="0"/>
          </a:p>
        </p:txBody>
      </p:sp>
      <p:sp>
        <p:nvSpPr>
          <p:cNvPr id="9" name="Text 7"/>
          <p:cNvSpPr/>
          <p:nvPr/>
        </p:nvSpPr>
        <p:spPr>
          <a:xfrm>
            <a:off x="6407150" y="2884636"/>
            <a:ext cx="4892294" cy="50542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4A5660"/>
                </a:solidFill>
                <a:latin typeface="IBM Plex Sans" pitchFamily="34" charset="0"/>
                <a:ea typeface="IBM Plex Sans" pitchFamily="34" charset="-122"/>
                <a:cs typeface="IBM Plex Sans" pitchFamily="34" charset="-120"/>
              </a:rPr>
              <a:t>rows dead-lettered, all one cause — the other </a:t>
            </a:r>
            <a:r>
              <a:rPr lang="en-US" sz="1350" b="1" dirty="0">
                <a:solidFill>
                  <a:srgbClr val="4A5660"/>
                </a:solidFill>
                <a:latin typeface="IBM Plex Sans" pitchFamily="34" charset="0"/>
                <a:ea typeface="IBM Plex Sans" pitchFamily="34" charset="-122"/>
                <a:cs typeface="IBM Plex Sans" pitchFamily="34" charset="-120"/>
              </a:rPr>
              <a:t>17,707</a:t>
            </a:r>
            <a:r>
              <a:rPr lang="en-US" sz="1350" dirty="0">
                <a:solidFill>
                  <a:srgbClr val="4A5660"/>
                </a:solidFill>
                <a:latin typeface="IBM Plex Sans" pitchFamily="34" charset="0"/>
                <a:ea typeface="IBM Plex Sans" pitchFamily="34" charset="-122"/>
                <a:cs typeface="IBM Plex Sans" pitchFamily="34" charset="-120"/>
              </a:rPr>
              <a:t> were untouched</a:t>
            </a:r>
            <a:endParaRPr lang="en-US" sz="1350" dirty="0"/>
          </a:p>
        </p:txBody>
      </p:sp>
      <p:sp>
        <p:nvSpPr>
          <p:cNvPr id="10" name="Shape 8"/>
          <p:cNvSpPr/>
          <p:nvPr/>
        </p:nvSpPr>
        <p:spPr>
          <a:xfrm>
            <a:off x="812800" y="3764707"/>
            <a:ext cx="5194300" cy="1673820"/>
          </a:xfrm>
          <a:prstGeom prst="roundRect">
            <a:avLst>
              <a:gd name="adj" fmla="val 6070"/>
            </a:avLst>
          </a:prstGeom>
          <a:solidFill>
            <a:srgbClr val="101820"/>
          </a:solidFill>
          <a:ln/>
        </p:spPr>
      </p:sp>
      <p:sp>
        <p:nvSpPr>
          <p:cNvPr id="11" name="Text 9"/>
          <p:cNvSpPr/>
          <p:nvPr/>
        </p:nvSpPr>
        <p:spPr>
          <a:xfrm>
            <a:off x="1028700" y="3980607"/>
            <a:ext cx="4905375" cy="711200"/>
          </a:xfrm>
          <a:prstGeom prst="rect">
            <a:avLst/>
          </a:prstGeom>
          <a:noFill/>
          <a:ln/>
        </p:spPr>
        <p:txBody>
          <a:bodyPr wrap="square" lIns="0" tIns="0" rIns="0" bIns="0" rtlCol="0" anchor="t">
            <a:normAutofit/>
          </a:bodyPr>
          <a:lstStyle/>
          <a:p>
            <a:pPr algn="l" indent="0" marL="0">
              <a:lnSpc>
                <a:spcPts val="5400"/>
              </a:lnSpc>
              <a:buNone/>
            </a:pPr>
            <a:r>
              <a:rPr lang="en-US" sz="5400" b="1" dirty="0">
                <a:solidFill>
                  <a:srgbClr val="48C3CE"/>
                </a:solidFill>
                <a:latin typeface="IBM Plex Sans" pitchFamily="34" charset="0"/>
                <a:ea typeface="IBM Plex Sans" pitchFamily="34" charset="-122"/>
                <a:cs typeface="IBM Plex Sans" pitchFamily="34" charset="-120"/>
              </a:rPr>
              <a:t>0</a:t>
            </a:r>
            <a:endParaRPr lang="en-US" sz="5400" dirty="0"/>
          </a:p>
        </p:txBody>
      </p:sp>
      <p:sp>
        <p:nvSpPr>
          <p:cNvPr id="12" name="Text 10"/>
          <p:cNvSpPr/>
          <p:nvPr/>
        </p:nvSpPr>
        <p:spPr>
          <a:xfrm>
            <a:off x="1028700" y="4729907"/>
            <a:ext cx="4905375" cy="50542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9FB0B8"/>
                </a:solidFill>
                <a:latin typeface="IBM Plex Sans" pitchFamily="34" charset="0"/>
                <a:ea typeface="IBM Plex Sans" pitchFamily="34" charset="-122"/>
                <a:cs typeface="IBM Plex Sans" pitchFamily="34" charset="-120"/>
              </a:rPr>
              <a:t>new rows when the same observations are processed a second time, and </a:t>
            </a:r>
            <a:r>
              <a:rPr lang="en-US" sz="1350" b="1" dirty="0">
                <a:solidFill>
                  <a:srgbClr val="D7E0E5"/>
                </a:solidFill>
                <a:latin typeface="IBM Plex Sans" pitchFamily="34" charset="0"/>
                <a:ea typeface="IBM Plex Sans" pitchFamily="34" charset="-122"/>
                <a:cs typeface="IBM Plex Sans" pitchFamily="34" charset="-120"/>
              </a:rPr>
              <a:t>zero</a:t>
            </a:r>
            <a:r>
              <a:rPr lang="en-US" sz="1350" dirty="0">
                <a:solidFill>
                  <a:srgbClr val="9FB0B8"/>
                </a:solidFill>
                <a:latin typeface="IBM Plex Sans" pitchFamily="34" charset="0"/>
                <a:ea typeface="IBM Plex Sans" pitchFamily="34" charset="-122"/>
                <a:cs typeface="IBM Plex Sans" pitchFamily="34" charset="-120"/>
              </a:rPr>
              <a:t> duplicate keys</a:t>
            </a:r>
            <a:endParaRPr lang="en-US" sz="1350" dirty="0"/>
          </a:p>
        </p:txBody>
      </p:sp>
      <p:sp>
        <p:nvSpPr>
          <p:cNvPr id="13" name="Shape 11"/>
          <p:cNvSpPr/>
          <p:nvPr/>
        </p:nvSpPr>
        <p:spPr>
          <a:xfrm>
            <a:off x="6188075" y="3767882"/>
            <a:ext cx="5187950" cy="1667470"/>
          </a:xfrm>
          <a:prstGeom prst="roundRect">
            <a:avLst>
              <a:gd name="adj" fmla="val 5903"/>
            </a:avLst>
          </a:prstGeom>
          <a:solidFill>
            <a:srgbClr val="FFFFFF"/>
          </a:solidFill>
          <a:ln w="6350">
            <a:solidFill>
              <a:srgbClr val="D3DAE0"/>
            </a:solidFill>
            <a:prstDash val="solid"/>
          </a:ln>
        </p:spPr>
      </p:sp>
      <p:sp>
        <p:nvSpPr>
          <p:cNvPr id="14" name="Text 12"/>
          <p:cNvSpPr/>
          <p:nvPr/>
        </p:nvSpPr>
        <p:spPr>
          <a:xfrm>
            <a:off x="6407150" y="3986957"/>
            <a:ext cx="4892294" cy="711200"/>
          </a:xfrm>
          <a:prstGeom prst="rect">
            <a:avLst/>
          </a:prstGeom>
          <a:noFill/>
          <a:ln/>
        </p:spPr>
        <p:txBody>
          <a:bodyPr wrap="square" lIns="0" tIns="0" rIns="0" bIns="0" rtlCol="0" anchor="t">
            <a:normAutofit/>
          </a:bodyPr>
          <a:lstStyle/>
          <a:p>
            <a:pPr algn="l" indent="0" marL="0">
              <a:lnSpc>
                <a:spcPts val="5400"/>
              </a:lnSpc>
              <a:buNone/>
            </a:pPr>
            <a:r>
              <a:rPr lang="en-US" sz="5400" b="1" dirty="0">
                <a:solidFill>
                  <a:srgbClr val="0A6670"/>
                </a:solidFill>
                <a:latin typeface="IBM Plex Sans" pitchFamily="34" charset="0"/>
                <a:ea typeface="IBM Plex Sans" pitchFamily="34" charset="-122"/>
                <a:cs typeface="IBM Plex Sans" pitchFamily="34" charset="-120"/>
              </a:rPr>
              <a:t>107</a:t>
            </a:r>
            <a:endParaRPr lang="en-US" sz="5400" dirty="0"/>
          </a:p>
        </p:txBody>
      </p:sp>
      <p:sp>
        <p:nvSpPr>
          <p:cNvPr id="15" name="Text 13"/>
          <p:cNvSpPr/>
          <p:nvPr/>
        </p:nvSpPr>
        <p:spPr>
          <a:xfrm>
            <a:off x="6407150" y="4736257"/>
            <a:ext cx="4892294" cy="50542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4A5660"/>
                </a:solidFill>
                <a:latin typeface="IBM Plex Sans" pitchFamily="34" charset="0"/>
                <a:ea typeface="IBM Plex Sans" pitchFamily="34" charset="-122"/>
                <a:cs typeface="IBM Plex Sans" pitchFamily="34" charset="-120"/>
              </a:rPr>
              <a:t>real duplicates the feed contained, absorbed by the upsert inside a single batch</a:t>
            </a:r>
            <a:endParaRPr lang="en-US" sz="1350" dirty="0"/>
          </a:p>
        </p:txBody>
      </p:sp>
      <p:sp>
        <p:nvSpPr>
          <p:cNvPr id="16" name="Text 14"/>
          <p:cNvSpPr/>
          <p:nvPr/>
        </p:nvSpPr>
        <p:spPr>
          <a:xfrm>
            <a:off x="812800" y="6238280"/>
            <a:ext cx="11379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9868F"/>
                </a:solidFill>
                <a:latin typeface="JetBrains Mono" pitchFamily="49" charset="0"/>
                <a:ea typeface="JetBrains Mono" pitchFamily="49" charset="-122"/>
                <a:cs typeface="JetBrains Mono" pitchFamily="49" charset="-120"/>
              </a:rPr>
              <a:t>53 tests · 3 against a real SQL Server container in CI · 8 decision records · deployed with no stored secret</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0182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48C3CE"/>
                </a:solidFill>
                <a:latin typeface="JetBrains Mono" pitchFamily="49" charset="0"/>
                <a:ea typeface="JetBrains Mono" pitchFamily="49" charset="-122"/>
                <a:cs typeface="JetBrains Mono" pitchFamily="49" charset="-120"/>
              </a:rPr>
              <a:t>WHAT IT PROVES</a:t>
            </a:r>
            <a:endParaRPr lang="en-US" sz="1200" dirty="0"/>
          </a:p>
        </p:txBody>
      </p:sp>
      <p:sp>
        <p:nvSpPr>
          <p:cNvPr id="3" name="Text 1"/>
          <p:cNvSpPr/>
          <p:nvPr>
            <p:ph type="title"/>
          </p:nvPr>
        </p:nvSpPr>
        <p:spPr>
          <a:xfrm>
            <a:off x="812800" y="1254720"/>
            <a:ext cx="9679940" cy="935732"/>
          </a:xfrm>
          <a:prstGeom prst="rect">
            <a:avLst/>
          </a:prstGeom>
          <a:noFill/>
          <a:ln/>
        </p:spPr>
        <p:txBody>
          <a:bodyPr wrap="square" lIns="0" tIns="0" rIns="0" bIns="0" rtlCol="0" anchor="t">
            <a:normAutofit/>
          </a:bodyPr>
          <a:lstStyle/>
          <a:p>
            <a:pPr algn="l" indent="0" marL="0">
              <a:lnSpc>
                <a:spcPts val="3584"/>
              </a:lnSpc>
              <a:buNone/>
            </a:pPr>
            <a:r>
              <a:rPr lang="en-US" sz="3200" b="1" i="0" dirty="0">
                <a:solidFill>
                  <a:srgbClr val="F4F7F8"/>
                </a:solidFill>
                <a:latin typeface="IBM Plex Sans" pitchFamily="34" charset="0"/>
                <a:ea typeface="IBM Plex Sans" pitchFamily="34" charset="-122"/>
                <a:cs typeface="IBM Plex Sans" pitchFamily="34" charset="-120"/>
              </a:rPr>
              <a:t>A Geiger counter turned up on an air-quality network</a:t>
            </a:r>
            <a:endParaRPr lang="en-US" sz="3200" dirty="0"/>
          </a:p>
        </p:txBody>
      </p:sp>
      <p:sp>
        <p:nvSpPr>
          <p:cNvPr id="4" name="Shape 2"/>
          <p:cNvSpPr/>
          <p:nvPr/>
        </p:nvSpPr>
        <p:spPr>
          <a:xfrm>
            <a:off x="812800" y="2393652"/>
            <a:ext cx="10566400" cy="1275060"/>
          </a:xfrm>
          <a:prstGeom prst="roundRect">
            <a:avLst>
              <a:gd name="adj" fmla="val 6972"/>
            </a:avLst>
          </a:prstGeom>
          <a:solidFill>
            <a:srgbClr val="16222B"/>
          </a:solidFill>
          <a:ln/>
        </p:spPr>
      </p:sp>
      <p:sp>
        <p:nvSpPr>
          <p:cNvPr id="5" name="Shape 3"/>
          <p:cNvSpPr/>
          <p:nvPr/>
        </p:nvSpPr>
        <p:spPr>
          <a:xfrm>
            <a:off x="812800" y="2393652"/>
            <a:ext cx="10566400" cy="1275060"/>
          </a:xfrm>
          <a:custGeom>
            <a:avLst/>
            <a:gdLst/>
            <a:ahLst/>
            <a:cxnLst/>
            <a:rect l="l" t="t" r="r" b="b"/>
            <a:pathLst>
              <a:path w="10566400" h="1275060">
                <a:moveTo>
                  <a:pt x="88900" y="1275060"/>
                </a:moveTo>
                <a:lnTo>
                  <a:pt x="88900" y="1275060"/>
                </a:lnTo>
                <a:arcTo hR="88900" wR="88900" stAng="5400000" swAng="5400000"/>
                <a:lnTo>
                  <a:pt x="0" y="88900"/>
                </a:lnTo>
                <a:arcTo hR="88900" wR="88900" stAng="10800000" swAng="5400000"/>
                <a:lnTo>
                  <a:pt x="88900" y="0"/>
                </a:lnTo>
                <a:arcTo hR="88900" wR="50800" stAng="16200000" swAng="-5400000"/>
                <a:lnTo>
                  <a:pt x="38100" y="1186160"/>
                </a:lnTo>
                <a:arcTo hR="88900" wR="50800" stAng="10800000" swAng="-5400000"/>
                <a:close/>
              </a:path>
            </a:pathLst>
          </a:custGeom>
          <a:solidFill>
            <a:srgbClr val="48C3CE"/>
          </a:solidFill>
          <a:ln/>
        </p:spPr>
      </p:sp>
      <p:sp>
        <p:nvSpPr>
          <p:cNvPr id="6" name="Text 4"/>
          <p:cNvSpPr/>
          <p:nvPr/>
        </p:nvSpPr>
        <p:spPr>
          <a:xfrm>
            <a:off x="1104900" y="2609552"/>
            <a:ext cx="10320909" cy="282575"/>
          </a:xfrm>
          <a:prstGeom prst="rect">
            <a:avLst/>
          </a:prstGeom>
          <a:noFill/>
          <a:ln/>
        </p:spPr>
        <p:txBody>
          <a:bodyPr wrap="square" lIns="0" tIns="0" rIns="0" bIns="0" rtlCol="0" anchor="t">
            <a:normAutofit/>
          </a:bodyPr>
          <a:lstStyle/>
          <a:p>
            <a:pPr algn="l" indent="0" marL="0">
              <a:lnSpc>
                <a:spcPts val="2025"/>
              </a:lnSpc>
              <a:buNone/>
            </a:pPr>
            <a:r>
              <a:rPr lang="en-US" sz="1350" dirty="0">
                <a:solidFill>
                  <a:srgbClr val="D7E0E5"/>
                </a:solidFill>
                <a:latin typeface="JetBrains Mono" pitchFamily="49" charset="0"/>
                <a:ea typeface="JetBrains Mono" pitchFamily="49" charset="-122"/>
                <a:cs typeface="JetBrains Mono" pitchFamily="49" charset="-120"/>
              </a:rPr>
              <a:t>“No field on this Radiation Si22G reading resolved to a known metric.”</a:t>
            </a:r>
            <a:endParaRPr lang="en-US" sz="1350" dirty="0"/>
          </a:p>
        </p:txBody>
      </p:sp>
      <p:sp>
        <p:nvSpPr>
          <p:cNvPr id="7" name="Text 5"/>
          <p:cNvSpPr/>
          <p:nvPr/>
        </p:nvSpPr>
        <p:spPr>
          <a:xfrm>
            <a:off x="1104900" y="2955627"/>
            <a:ext cx="10320909" cy="522585"/>
          </a:xfrm>
          <a:prstGeom prst="rect">
            <a:avLst/>
          </a:prstGeom>
          <a:noFill/>
          <a:ln/>
        </p:spPr>
        <p:txBody>
          <a:bodyPr wrap="square" lIns="0" tIns="0" rIns="0" bIns="0" rtlCol="0" anchor="t">
            <a:normAutofit/>
          </a:bodyPr>
          <a:lstStyle/>
          <a:p>
            <a:pPr algn="l" indent="0" marL="0">
              <a:lnSpc>
                <a:spcPts val="1958"/>
              </a:lnSpc>
              <a:buNone/>
            </a:pPr>
            <a:r>
              <a:rPr lang="en-US" sz="1350" dirty="0">
                <a:solidFill>
                  <a:srgbClr val="9FB0B8"/>
                </a:solidFill>
                <a:latin typeface="IBM Plex Sans" pitchFamily="34" charset="0"/>
                <a:ea typeface="IBM Plex Sans" pitchFamily="34" charset="-122"/>
                <a:cs typeface="IBM Plex Sans" pitchFamily="34" charset="-120"/>
              </a:rPr>
              <a:t>Nobody had written rules for a radiation sensor. 63 rows were isolated instead of rejecting 17,707 good ones — then fixed with one INSERT, a cache reload and a replay. </a:t>
            </a:r>
            <a:r>
              <a:rPr lang="en-US" sz="1350" b="1" dirty="0">
                <a:solidFill>
                  <a:srgbClr val="D7E0E5"/>
                </a:solidFill>
                <a:latin typeface="IBM Plex Sans" pitchFamily="34" charset="0"/>
                <a:ea typeface="IBM Plex Sans" pitchFamily="34" charset="-122"/>
                <a:cs typeface="IBM Plex Sans" pitchFamily="34" charset="-120"/>
              </a:rPr>
              <a:t>No code change. No deployment. No second request upstream.</a:t>
            </a:r>
            <a:endParaRPr lang="en-US" sz="1350" dirty="0"/>
          </a:p>
        </p:txBody>
      </p:sp>
      <p:sp>
        <p:nvSpPr>
          <p:cNvPr id="8" name="Shape 6"/>
          <p:cNvSpPr/>
          <p:nvPr/>
        </p:nvSpPr>
        <p:spPr>
          <a:xfrm>
            <a:off x="812800" y="3906838"/>
            <a:ext cx="3403600" cy="0"/>
          </a:xfrm>
          <a:prstGeom prst="line">
            <a:avLst/>
          </a:prstGeom>
          <a:noFill/>
          <a:ln w="19050">
            <a:solidFill>
              <a:srgbClr val="2C3A44"/>
            </a:solidFill>
            <a:prstDash val="solid"/>
          </a:ln>
        </p:spPr>
      </p:sp>
      <p:sp>
        <p:nvSpPr>
          <p:cNvPr id="9" name="Text 7"/>
          <p:cNvSpPr/>
          <p:nvPr/>
        </p:nvSpPr>
        <p:spPr>
          <a:xfrm>
            <a:off x="812800" y="4056063"/>
            <a:ext cx="3505708"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4F7F8"/>
                </a:solidFill>
                <a:latin typeface="IBM Plex Sans" pitchFamily="34" charset="0"/>
                <a:ea typeface="IBM Plex Sans" pitchFamily="34" charset="-122"/>
                <a:cs typeface="IBM Plex Sans" pitchFamily="34" charset="-120"/>
              </a:rPr>
              <a:t>Unanticipated input is normal</a:t>
            </a:r>
            <a:endParaRPr lang="en-US" sz="1400" dirty="0"/>
          </a:p>
        </p:txBody>
      </p:sp>
      <p:sp>
        <p:nvSpPr>
          <p:cNvPr id="10" name="Text 8"/>
          <p:cNvSpPr/>
          <p:nvPr/>
        </p:nvSpPr>
        <p:spPr>
          <a:xfrm>
            <a:off x="812800" y="4332883"/>
            <a:ext cx="3505708" cy="255588"/>
          </a:xfrm>
          <a:prstGeom prst="rect">
            <a:avLst/>
          </a:prstGeom>
          <a:noFill/>
          <a:ln/>
        </p:spPr>
        <p:txBody>
          <a:bodyPr wrap="square" lIns="0" tIns="0" rIns="0" bIns="0" rtlCol="0" anchor="t">
            <a:normAutofit/>
          </a:bodyPr>
          <a:lstStyle/>
          <a:p>
            <a:pPr algn="l" indent="0" marL="0">
              <a:lnSpc>
                <a:spcPts val="1813"/>
              </a:lnSpc>
              <a:buNone/>
            </a:pPr>
            <a:r>
              <a:rPr lang="en-US" sz="1250" dirty="0">
                <a:solidFill>
                  <a:srgbClr val="9FB0B8"/>
                </a:solidFill>
                <a:latin typeface="IBM Plex Sans" pitchFamily="34" charset="0"/>
                <a:ea typeface="IBM Plex Sans" pitchFamily="34" charset="-122"/>
                <a:cs typeface="IBM Plex Sans" pitchFamily="34" charset="-120"/>
              </a:rPr>
              <a:t>Not an edge case to design against later.</a:t>
            </a:r>
            <a:endParaRPr lang="en-US" sz="1250" dirty="0"/>
          </a:p>
        </p:txBody>
      </p:sp>
      <p:sp>
        <p:nvSpPr>
          <p:cNvPr id="11" name="Shape 9"/>
          <p:cNvSpPr/>
          <p:nvPr/>
        </p:nvSpPr>
        <p:spPr>
          <a:xfrm>
            <a:off x="4394200" y="3906838"/>
            <a:ext cx="3403600" cy="0"/>
          </a:xfrm>
          <a:prstGeom prst="line">
            <a:avLst/>
          </a:prstGeom>
          <a:noFill/>
          <a:ln w="19050">
            <a:solidFill>
              <a:srgbClr val="2C3A44"/>
            </a:solidFill>
            <a:prstDash val="solid"/>
          </a:ln>
        </p:spPr>
      </p:sp>
      <p:sp>
        <p:nvSpPr>
          <p:cNvPr id="12" name="Text 10"/>
          <p:cNvSpPr/>
          <p:nvPr/>
        </p:nvSpPr>
        <p:spPr>
          <a:xfrm>
            <a:off x="4394200" y="4056063"/>
            <a:ext cx="3505708"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4F7F8"/>
                </a:solidFill>
                <a:latin typeface="IBM Plex Sans" pitchFamily="34" charset="0"/>
                <a:ea typeface="IBM Plex Sans" pitchFamily="34" charset="-122"/>
                <a:cs typeface="IBM Plex Sans" pitchFamily="34" charset="-120"/>
              </a:rPr>
              <a:t>Failure is a first-class outcome</a:t>
            </a:r>
            <a:endParaRPr lang="en-US" sz="1400" dirty="0"/>
          </a:p>
        </p:txBody>
      </p:sp>
      <p:sp>
        <p:nvSpPr>
          <p:cNvPr id="13" name="Text 11"/>
          <p:cNvSpPr/>
          <p:nvPr/>
        </p:nvSpPr>
        <p:spPr>
          <a:xfrm>
            <a:off x="4394200" y="4332883"/>
            <a:ext cx="3505708" cy="255588"/>
          </a:xfrm>
          <a:prstGeom prst="rect">
            <a:avLst/>
          </a:prstGeom>
          <a:noFill/>
          <a:ln/>
        </p:spPr>
        <p:txBody>
          <a:bodyPr wrap="square" lIns="0" tIns="0" rIns="0" bIns="0" rtlCol="0" anchor="t">
            <a:normAutofit/>
          </a:bodyPr>
          <a:lstStyle/>
          <a:p>
            <a:pPr algn="l" indent="0" marL="0">
              <a:lnSpc>
                <a:spcPts val="1813"/>
              </a:lnSpc>
              <a:buNone/>
            </a:pPr>
            <a:r>
              <a:rPr lang="en-US" sz="1250" dirty="0">
                <a:solidFill>
                  <a:srgbClr val="9FB0B8"/>
                </a:solidFill>
                <a:latin typeface="IBM Plex Sans" pitchFamily="34" charset="0"/>
                <a:ea typeface="IBM Plex Sans" pitchFamily="34" charset="-122"/>
                <a:cs typeface="IBM Plex Sans" pitchFamily="34" charset="-120"/>
              </a:rPr>
              <a:t>A batch is expected to finish partially.</a:t>
            </a:r>
            <a:endParaRPr lang="en-US" sz="1250" dirty="0"/>
          </a:p>
        </p:txBody>
      </p:sp>
      <p:sp>
        <p:nvSpPr>
          <p:cNvPr id="14" name="Shape 12"/>
          <p:cNvSpPr/>
          <p:nvPr/>
        </p:nvSpPr>
        <p:spPr>
          <a:xfrm>
            <a:off x="7975600" y="3906838"/>
            <a:ext cx="3403600" cy="0"/>
          </a:xfrm>
          <a:prstGeom prst="line">
            <a:avLst/>
          </a:prstGeom>
          <a:noFill/>
          <a:ln w="19050">
            <a:solidFill>
              <a:srgbClr val="2C3A44"/>
            </a:solidFill>
            <a:prstDash val="solid"/>
          </a:ln>
        </p:spPr>
      </p:sp>
      <p:sp>
        <p:nvSpPr>
          <p:cNvPr id="15" name="Text 13"/>
          <p:cNvSpPr/>
          <p:nvPr/>
        </p:nvSpPr>
        <p:spPr>
          <a:xfrm>
            <a:off x="7975600" y="4056063"/>
            <a:ext cx="3505708"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4F7F8"/>
                </a:solidFill>
                <a:latin typeface="IBM Plex Sans" pitchFamily="34" charset="0"/>
                <a:ea typeface="IBM Plex Sans" pitchFamily="34" charset="-122"/>
                <a:cs typeface="IBM Plex Sans" pitchFamily="34" charset="-120"/>
              </a:rPr>
              <a:t>The gaps are written down</a:t>
            </a:r>
            <a:endParaRPr lang="en-US" sz="1400" dirty="0"/>
          </a:p>
        </p:txBody>
      </p:sp>
      <p:sp>
        <p:nvSpPr>
          <p:cNvPr id="16" name="Text 14"/>
          <p:cNvSpPr/>
          <p:nvPr/>
        </p:nvSpPr>
        <p:spPr>
          <a:xfrm>
            <a:off x="7975600" y="4332883"/>
            <a:ext cx="3505708" cy="255588"/>
          </a:xfrm>
          <a:prstGeom prst="rect">
            <a:avLst/>
          </a:prstGeom>
          <a:noFill/>
          <a:ln/>
        </p:spPr>
        <p:txBody>
          <a:bodyPr wrap="square" lIns="0" tIns="0" rIns="0" bIns="0" rtlCol="0" anchor="t">
            <a:normAutofit/>
          </a:bodyPr>
          <a:lstStyle/>
          <a:p>
            <a:pPr algn="l" indent="0" marL="0">
              <a:lnSpc>
                <a:spcPts val="1813"/>
              </a:lnSpc>
              <a:buNone/>
            </a:pPr>
            <a:r>
              <a:rPr lang="en-US" sz="1250" dirty="0">
                <a:solidFill>
                  <a:srgbClr val="9FB0B8"/>
                </a:solidFill>
                <a:latin typeface="IBM Plex Sans" pitchFamily="34" charset="0"/>
                <a:ea typeface="IBM Plex Sans" pitchFamily="34" charset="-122"/>
                <a:cs typeface="IBM Plex Sans" pitchFamily="34" charset="-120"/>
              </a:rPr>
              <a:t>No plausibility check, no retention policy.</a:t>
            </a:r>
            <a:endParaRPr lang="en-US" sz="1250" dirty="0"/>
          </a:p>
        </p:txBody>
      </p:sp>
      <p:sp>
        <p:nvSpPr>
          <p:cNvPr id="17" name="Text 15"/>
          <p:cNvSpPr/>
          <p:nvPr/>
        </p:nvSpPr>
        <p:spPr>
          <a:xfrm>
            <a:off x="812800" y="4791670"/>
            <a:ext cx="10883392" cy="2476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79868F"/>
                </a:solidFill>
                <a:latin typeface="JetBrains Mono" pitchFamily="49" charset="0"/>
                <a:ea typeface="JetBrains Mono" pitchFamily="49" charset="-122"/>
                <a:cs typeface="JetBrains Mono" pitchFamily="49" charset="-120"/>
              </a:rPr>
              <a:t>github.com/Work20267/data-integration-api</a:t>
            </a:r>
            <a:endParaRPr lang="en-US" sz="1250" dirty="0"/>
          </a:p>
        </p:txBody>
      </p:sp>
    </p:spTree>
  </p:cSld>
  <p:clrMapOvr>
    <a:masterClrMapping/>
  </p:clrMapOvr>
</p:sld>
</file>

<file path=ppt/theme/theme1.xml><?xml version="1.0" encoding="utf-8"?>
<a:theme xmlns:a="http://schemas.openxmlformats.org/drawingml/2006/main" name="Data Integration API">
  <a:themeElements>
    <a:clrScheme name="Data Integration API">
      <a:dk1>
        <a:srgbClr val="101820"/>
      </a:dk1>
      <a:lt1>
        <a:srgbClr val="F2F4F6"/>
      </a:lt1>
      <a:dk2>
        <a:srgbClr val="494F56"/>
      </a:dk2>
      <a:lt2>
        <a:srgbClr val="DBDEE1"/>
      </a:lt2>
      <a:accent1>
        <a:srgbClr val="0A6670"/>
      </a:accent1>
      <a:accent2>
        <a:srgbClr val="48C3CE"/>
      </a:accent2>
      <a:accent3>
        <a:srgbClr val="9C580B"/>
      </a:accent3>
      <a:accent4>
        <a:srgbClr val="6E4408"/>
      </a:accent4>
      <a:accent5>
        <a:srgbClr val="9FB0B8"/>
      </a:accent5>
      <a:accent6>
        <a:srgbClr val="4A5660"/>
      </a:accent6>
      <a:hlink>
        <a:srgbClr val="0563C1"/>
      </a:hlink>
      <a:folHlink>
        <a:srgbClr val="954F72"/>
      </a:folHlink>
    </a:clrScheme>
    <a:fontScheme name="Data Integration API">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Integration API</dc:title>
  <dc:subject/>
  <dc:creator/>
  <cp:lastModifiedBy/>
  <cp:revision>1</cp:revision>
  <dcterms:created xsi:type="dcterms:W3CDTF">2026-10-07T11:00:00Z</dcterms:created>
  <dcterms:modified xsi:type="dcterms:W3CDTF">2026-10-07T11:00:00Z</dcterms:modified>
</cp:coreProperties>
</file>